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9bf29726fe48c7" /><Relationship Type="http://schemas.openxmlformats.org/officeDocument/2006/relationships/extended-properties" Target="/docProps/app.xml" Id="R6d20a8a056b34612" /><Relationship Type="http://schemas.openxmlformats.org/officeDocument/2006/relationships/officeDocument" Target="/ppt/presentation.xml" Id="Red0d244be1cc49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578e19369546ce"/>
  </p:sldMasterIdLst>
  <p:notesMasterIdLst>
    <p:notesMasterId xmlns:r="http://schemas.openxmlformats.org/officeDocument/2006/relationships" r:id="Rf1979e4b830c418f"/>
  </p:notesMasterIdLst>
  <p:sldIdLst>
    <p:sldId xmlns:r="http://schemas.openxmlformats.org/officeDocument/2006/relationships" id="256" r:id="Rd6d4fb1a8d3f4f75"/>
    <p:sldId xmlns:r="http://schemas.openxmlformats.org/officeDocument/2006/relationships" id="257" r:id="Rc8bfd04690504f14"/>
    <p:sldId xmlns:r="http://schemas.openxmlformats.org/officeDocument/2006/relationships" id="258" r:id="R8fe491015ff04310"/>
    <p:sldId xmlns:r="http://schemas.openxmlformats.org/officeDocument/2006/relationships" id="259" r:id="R1e275737a10c4a9a"/>
    <p:sldId xmlns:r="http://schemas.openxmlformats.org/officeDocument/2006/relationships" id="260" r:id="R330871bf3afa43e3"/>
    <p:sldId xmlns:r="http://schemas.openxmlformats.org/officeDocument/2006/relationships" id="261" r:id="Re29651c49d894759"/>
    <p:sldId xmlns:r="http://schemas.openxmlformats.org/officeDocument/2006/relationships" id="262" r:id="Rc495806924234d14"/>
    <p:sldId xmlns:r="http://schemas.openxmlformats.org/officeDocument/2006/relationships" id="263" r:id="R112813eae74d4bb8"/>
    <p:sldId xmlns:r="http://schemas.openxmlformats.org/officeDocument/2006/relationships" id="264" r:id="R865fab15e6c6402e"/>
    <p:sldId xmlns:r="http://schemas.openxmlformats.org/officeDocument/2006/relationships" id="265" r:id="R42bfabc34ecc49e9"/>
    <p:sldId xmlns:r="http://schemas.openxmlformats.org/officeDocument/2006/relationships" id="266" r:id="Rb09e2cda1118483a"/>
    <p:sldId xmlns:r="http://schemas.openxmlformats.org/officeDocument/2006/relationships" id="267" r:id="Rd8fec4be6ac244af"/>
    <p:sldId xmlns:r="http://schemas.openxmlformats.org/officeDocument/2006/relationships" id="268" r:id="R90373606c09246cf"/>
    <p:sldId xmlns:r="http://schemas.openxmlformats.org/officeDocument/2006/relationships" id="269" r:id="Rb45fea97eaf0428f"/>
    <p:sldId xmlns:r="http://schemas.openxmlformats.org/officeDocument/2006/relationships" id="270" r:id="Rcd1c6e0e9f1342fc"/>
    <p:sldId xmlns:r="http://schemas.openxmlformats.org/officeDocument/2006/relationships" id="271" r:id="R1dc8d285f6ca473e"/>
    <p:sldId xmlns:r="http://schemas.openxmlformats.org/officeDocument/2006/relationships" id="272" r:id="Rd738bed1276a4197"/>
    <p:sldId xmlns:r="http://schemas.openxmlformats.org/officeDocument/2006/relationships" id="273" r:id="Re7825a3e81cf47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d554be61194e4b" /><Relationship Type="http://schemas.openxmlformats.org/officeDocument/2006/relationships/slideMaster" Target="/ppt/slideMasters/slideMaster1.xml" Id="Rf7578e19369546ce" /><Relationship Type="http://schemas.openxmlformats.org/officeDocument/2006/relationships/notesMaster" Target="/ppt/notesMasters/notesMaster1.xml" Id="Rf1979e4b830c418f" /><Relationship Type="http://schemas.openxmlformats.org/officeDocument/2006/relationships/presProps" Target="/ppt/presProps.xml" Id="R3983cb1197bd42e7" /><Relationship Type="http://schemas.openxmlformats.org/officeDocument/2006/relationships/tableStyles" Target="/ppt/tableStyles.xml" Id="Ra09e5e7b7eed4335" /><Relationship Type="http://schemas.openxmlformats.org/officeDocument/2006/relationships/slide" Target="/ppt/slides/slide1.xml" Id="Rd6d4fb1a8d3f4f75" /><Relationship Type="http://schemas.openxmlformats.org/officeDocument/2006/relationships/slide" Target="/ppt/slides/slide2.xml" Id="Rc8bfd04690504f14" /><Relationship Type="http://schemas.openxmlformats.org/officeDocument/2006/relationships/slide" Target="/ppt/slides/slide3.xml" Id="R8fe491015ff04310" /><Relationship Type="http://schemas.openxmlformats.org/officeDocument/2006/relationships/slide" Target="/ppt/slides/slide4.xml" Id="R1e275737a10c4a9a" /><Relationship Type="http://schemas.openxmlformats.org/officeDocument/2006/relationships/slide" Target="/ppt/slides/slide5.xml" Id="R330871bf3afa43e3" /><Relationship Type="http://schemas.openxmlformats.org/officeDocument/2006/relationships/slide" Target="/ppt/slides/slide6.xml" Id="Re29651c49d894759" /><Relationship Type="http://schemas.openxmlformats.org/officeDocument/2006/relationships/slide" Target="/ppt/slides/slide7.xml" Id="Rc495806924234d14" /><Relationship Type="http://schemas.openxmlformats.org/officeDocument/2006/relationships/slide" Target="/ppt/slides/slide8.xml" Id="R112813eae74d4bb8" /><Relationship Type="http://schemas.openxmlformats.org/officeDocument/2006/relationships/slide" Target="/ppt/slides/slide9.xml" Id="R865fab15e6c6402e" /><Relationship Type="http://schemas.openxmlformats.org/officeDocument/2006/relationships/slide" Target="/ppt/slides/slide10.xml" Id="R42bfabc34ecc49e9" /><Relationship Type="http://schemas.openxmlformats.org/officeDocument/2006/relationships/slide" Target="/ppt/slides/slide11.xml" Id="Rb09e2cda1118483a" /><Relationship Type="http://schemas.openxmlformats.org/officeDocument/2006/relationships/slide" Target="/ppt/slides/slide12.xml" Id="Rd8fec4be6ac244af" /><Relationship Type="http://schemas.openxmlformats.org/officeDocument/2006/relationships/slide" Target="/ppt/slides/slide13.xml" Id="R90373606c09246cf" /><Relationship Type="http://schemas.openxmlformats.org/officeDocument/2006/relationships/slide" Target="/ppt/slides/slide14.xml" Id="Rb45fea97eaf0428f" /><Relationship Type="http://schemas.openxmlformats.org/officeDocument/2006/relationships/slide" Target="/ppt/slides/slide15.xml" Id="Rcd1c6e0e9f1342fc" /><Relationship Type="http://schemas.openxmlformats.org/officeDocument/2006/relationships/slide" Target="/ppt/slides/slide16.xml" Id="R1dc8d285f6ca473e" /><Relationship Type="http://schemas.openxmlformats.org/officeDocument/2006/relationships/slide" Target="/ppt/slides/slide17.xml" Id="Rd738bed1276a4197" /><Relationship Type="http://schemas.openxmlformats.org/officeDocument/2006/relationships/slide" Target="/ppt/slides/slide18.xml" Id="Re7825a3e81cf47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049eda6d6c41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aba34244634afd" /><Relationship Type="http://schemas.openxmlformats.org/officeDocument/2006/relationships/notesMaster" Target="/ppt/notesMasters/notesMaster1.xml" Id="Rb43c2b6d34ca40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b8967f6e414a2a" /><Relationship Type="http://schemas.openxmlformats.org/officeDocument/2006/relationships/notesMaster" Target="/ppt/notesMasters/notesMaster1.xml" Id="R990556d1abc34f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ed0fdc7b8d4d27" /><Relationship Type="http://schemas.openxmlformats.org/officeDocument/2006/relationships/notesMaster" Target="/ppt/notesMasters/notesMaster1.xml" Id="R132b60d4514540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971cb47ccd408c" /><Relationship Type="http://schemas.openxmlformats.org/officeDocument/2006/relationships/notesMaster" Target="/ppt/notesMasters/notesMaster1.xml" Id="Rcf15e46a6a0f4d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baaac44592400f" /><Relationship Type="http://schemas.openxmlformats.org/officeDocument/2006/relationships/notesMaster" Target="/ppt/notesMasters/notesMaster1.xml" Id="Re91664d75c9b48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a45fa154664002" /><Relationship Type="http://schemas.openxmlformats.org/officeDocument/2006/relationships/notesMaster" Target="/ppt/notesMasters/notesMaster1.xml" Id="R52924e86158848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cd47916d4242cd" /><Relationship Type="http://schemas.openxmlformats.org/officeDocument/2006/relationships/notesMaster" Target="/ppt/notesMasters/notesMaster1.xml" Id="R117977118af248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211cbc28c044fe" /><Relationship Type="http://schemas.openxmlformats.org/officeDocument/2006/relationships/notesMaster" Target="/ppt/notesMasters/notesMaster1.xml" Id="R11bab7ede13f44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b10a8ff06a4ad7" /><Relationship Type="http://schemas.openxmlformats.org/officeDocument/2006/relationships/notesMaster" Target="/ppt/notesMasters/notesMaster1.xml" Id="Rae931122f0d74e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465aee1bbc4e55" /><Relationship Type="http://schemas.openxmlformats.org/officeDocument/2006/relationships/notesMaster" Target="/ppt/notesMasters/notesMaster1.xml" Id="Rbad3413e568748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a770b8e6c441fd" /><Relationship Type="http://schemas.openxmlformats.org/officeDocument/2006/relationships/notesMaster" Target="/ppt/notesMasters/notesMaster1.xml" Id="R5667df5fa36f4d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ba8263c28a4f37" /><Relationship Type="http://schemas.openxmlformats.org/officeDocument/2006/relationships/notesMaster" Target="/ppt/notesMasters/notesMaster1.xml" Id="R771637b4229548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c7b9046438427c" /><Relationship Type="http://schemas.openxmlformats.org/officeDocument/2006/relationships/notesMaster" Target="/ppt/notesMasters/notesMaster1.xml" Id="Rf8b45073fe7c4b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1d9c04c18f4e9b" /><Relationship Type="http://schemas.openxmlformats.org/officeDocument/2006/relationships/notesMaster" Target="/ppt/notesMasters/notesMaster1.xml" Id="R3e50c75274114b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db1796081d4730" /><Relationship Type="http://schemas.openxmlformats.org/officeDocument/2006/relationships/notesMaster" Target="/ppt/notesMasters/notesMaster1.xml" Id="R4325ef624e4842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d23391602c4603" /><Relationship Type="http://schemas.openxmlformats.org/officeDocument/2006/relationships/notesMaster" Target="/ppt/notesMasters/notesMaster1.xml" Id="Rda950932844740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86d0e64fbf4140" /><Relationship Type="http://schemas.openxmlformats.org/officeDocument/2006/relationships/notesMaster" Target="/ppt/notesMasters/notesMaster1.xml" Id="R42918a72cdf347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467a4c38aa488c" /><Relationship Type="http://schemas.openxmlformats.org/officeDocument/2006/relationships/notesMaster" Target="/ppt/notesMasters/notesMaster1.xml" Id="R3e68db64aaf846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LOC Canon and system definitions supplied by Lucas Oscar Wang 政德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2277dee2040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eb0ea1c1bf478a" /><Relationship Type="http://schemas.openxmlformats.org/officeDocument/2006/relationships/slideLayout" Target="/ppt/slideLayouts/slideLayout1.xml" Id="R02f25a2e23bc4f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f25a2e23bc4f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46139da5d4f28" /><Relationship Type="http://schemas.openxmlformats.org/officeDocument/2006/relationships/notesSlide" Target="/ppt/notesSlides/notesSlide1.xml" Id="Rf5bb1a75c79249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e4eac64184e44" /><Relationship Type="http://schemas.openxmlformats.org/officeDocument/2006/relationships/notesSlide" Target="/ppt/notesSlides/notesSlide2.xml" Id="R66c7a9688df548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ebaba3ac84920" /><Relationship Type="http://schemas.openxmlformats.org/officeDocument/2006/relationships/notesSlide" Target="/ppt/notesSlides/notesSlide3.xml" Id="R4f5645936b6146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96cc039a3459f" /><Relationship Type="http://schemas.openxmlformats.org/officeDocument/2006/relationships/notesSlide" Target="/ppt/notesSlides/notesSlide4.xml" Id="Rfb85770cea564c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1c10947ca43a8" /><Relationship Type="http://schemas.openxmlformats.org/officeDocument/2006/relationships/notesSlide" Target="/ppt/notesSlides/notesSlide5.xml" Id="R3bc29973bc8c4c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bc2816e3f45ad" /><Relationship Type="http://schemas.openxmlformats.org/officeDocument/2006/relationships/notesSlide" Target="/ppt/notesSlides/notesSlide6.xml" Id="Rd805d51c94f748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19a4a3a714426" /><Relationship Type="http://schemas.openxmlformats.org/officeDocument/2006/relationships/notesSlide" Target="/ppt/notesSlides/notesSlide7.xml" Id="R9d6e3266a95f47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e7597e87d45c3" /><Relationship Type="http://schemas.openxmlformats.org/officeDocument/2006/relationships/notesSlide" Target="/ppt/notesSlides/notesSlide8.xml" Id="Rbb74460081f642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3122bb7544922" /><Relationship Type="http://schemas.openxmlformats.org/officeDocument/2006/relationships/notesSlide" Target="/ppt/notesSlides/notesSlide9.xml" Id="R44cf8db4ee704a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9179e19484dcf" /><Relationship Type="http://schemas.openxmlformats.org/officeDocument/2006/relationships/notesSlide" Target="/ppt/notesSlides/notesSlide10.xml" Id="Rf2c2d48b09f346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1192c2ac346c4" /><Relationship Type="http://schemas.openxmlformats.org/officeDocument/2006/relationships/notesSlide" Target="/ppt/notesSlides/notesSlide11.xml" Id="R9eab80990cc542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e6a4cb5db4b5a" /><Relationship Type="http://schemas.openxmlformats.org/officeDocument/2006/relationships/notesSlide" Target="/ppt/notesSlides/notesSlide12.xml" Id="Rfebcf0a66e124d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b398631fa4877" /><Relationship Type="http://schemas.openxmlformats.org/officeDocument/2006/relationships/notesSlide" Target="/ppt/notesSlides/notesSlide13.xml" Id="Rb9283334acac46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fe952654a405b" /><Relationship Type="http://schemas.openxmlformats.org/officeDocument/2006/relationships/notesSlide" Target="/ppt/notesSlides/notesSlide14.xml" Id="R38376587aa294f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d06dced344cd5" /><Relationship Type="http://schemas.openxmlformats.org/officeDocument/2006/relationships/notesSlide" Target="/ppt/notesSlides/notesSlide15.xml" Id="R270c518695f049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ecdba8afb4a67" /><Relationship Type="http://schemas.openxmlformats.org/officeDocument/2006/relationships/notesSlide" Target="/ppt/notesSlides/notesSlide16.xml" Id="Rb3134f844ea041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7637ab2384b86" /><Relationship Type="http://schemas.openxmlformats.org/officeDocument/2006/relationships/notesSlide" Target="/ppt/notesSlides/notesSlide17.xml" Id="Rd3c2c0dea8b24a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0d2b977fc4be2" /><Relationship Type="http://schemas.openxmlformats.org/officeDocument/2006/relationships/notesSlide" Target="/ppt/notesSlides/notesSlide18.xml" Id="R1ea924934a3e4e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90A1C-AECD-4C83-A928-D440177F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F0F19-0BC1-4A8B-B4A8-4B077FF9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461B2-F6CE-4C03-ACAA-87169773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F4F7FB"/>
                </a:solidFill>
              </a:defRPr>
            </a:pPr>
            <a:r>
              <a:rPr sz="5550" b="1">
                <a:solidFill>
                  <a:srgbClr val="F4F7FB"/>
                </a:solidFill>
              </a:rPr>
              <a:t>LOC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4B5A0-5838-47B6-AE64-05D9CF45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B9D9FF"/>
                </a:solidFill>
              </a:defRPr>
            </a:pPr>
            <a:r>
              <a:rPr sz="2550" b="1">
                <a:solidFill>
                  <a:srgbClr val="B9D9FF"/>
                </a:solidFill>
              </a:rPr>
              <a:t>月典｜Luna Codex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1FB94-50A7-4B47-B6AC-AF6C0D61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D8E2F0"/>
                </a:solidFill>
              </a:defRPr>
            </a:pPr>
            <a:r>
              <a:rPr sz="1950" b="0">
                <a:solidFill>
                  <a:srgbClr val="D8E2F0"/>
                </a:solidFill>
              </a:rPr>
              <a:t>以固定符文骨架，治理語意、創作與生活分發的語言系統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305FA-03D7-4074-845E-FD7D1260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5AA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68B31-DB76-414C-9EAD-C7C6095E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EBBD0"/>
                </a:solidFill>
              </a:defRPr>
            </a:pPr>
            <a:r>
              <a:rPr sz="1350" b="1">
                <a:solidFill>
                  <a:srgbClr val="AEBBD0"/>
                </a:solidFill>
              </a:rPr>
              <a:t>完整系統介紹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EAC35-FE7B-4001-92E2-15FB86B6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BD0"/>
                </a:solidFill>
              </a:defRPr>
            </a:pPr>
            <a:r>
              <a:rPr sz="975" b="0">
                <a:solidFill>
                  <a:srgbClr val="AEBBD0"/>
                </a:solidFill>
              </a:rPr>
              <a:t>秘藝文域 EsotericVerse Studio · Lucas Oscar Wang 政德</a:t>
            </a:r>
          </a:p>
        </p:txBody>
      </p:sp>
    </p:spTree>
    <p:extLst>
      <p:ext uri="{BB962C8B-B14F-4D97-AF65-F5344CB8AC3E}">
        <p14:creationId xmlns:p14="http://schemas.microsoft.com/office/powerpoint/2010/main" val="1968407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1874D-DAE8-4A51-98C4-121A0501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01 /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23CC4-5641-4A43-BDD4-6A113C97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LOC 不是一副牌，而是一套語言治理骨架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8FA6D-6A45-476A-818B-5995A55F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EBBD0"/>
                </a:solidFill>
              </a:defRPr>
            </a:pPr>
            <a:r>
              <a:rPr sz="1350" b="0">
                <a:solidFill>
                  <a:srgbClr val="AEBBD0"/>
                </a:solidFill>
              </a:rPr>
              <a:t>符文是入口；分發、語意與作品，才是系統的全貌。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6FA92-759E-46A9-B729-4461BDE6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6DD28-BE04-412A-B82F-82479CAB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5AA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867D3-DFE6-48CA-8A7E-56CF5A2B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AA7FF"/>
                </a:solidFill>
              </a:defRPr>
            </a:pPr>
            <a:r>
              <a:rPr sz="1875" b="1">
                <a:solidFill>
                  <a:srgbClr val="5AA7FF"/>
                </a:solidFill>
              </a:rPr>
              <a:t>固定核心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DFE12-B719-466B-9170-AE4C5530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8E2F0"/>
                </a:solidFill>
              </a:defRPr>
            </a:pPr>
            <a:r>
              <a:rPr sz="1575" b="0">
                <a:solidFill>
                  <a:srgbClr val="D8E2F0"/>
                </a:solidFill>
              </a:rPr>
              <a:t>66 符文、位序與四向語意，形成可追溯的母語彙。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9B56C-8797-4015-9908-FE410A3D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987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EB4B0-1CCE-42C9-B1E3-941D0004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987BFF"/>
                </a:solidFill>
              </a:defRPr>
            </a:pPr>
            <a:r>
              <a:rPr sz="1875" b="1">
                <a:solidFill>
                  <a:srgbClr val="987BFF"/>
                </a:solidFill>
              </a:rPr>
              <a:t>八種分發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92FB1-608D-4CEB-8188-243AAED9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0450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8E2F0"/>
                </a:solidFill>
              </a:defRPr>
            </a:pPr>
            <a:r>
              <a:rPr sz="1575" b="0">
                <a:solidFill>
                  <a:srgbClr val="D8E2F0"/>
                </a:solidFill>
              </a:rPr>
              <a:t>LOC1–8 將同一語言核心分配到抽籤、音樂、寫作、治理與生活。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82C67-42C2-447E-A9B7-34D92C9B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6FE5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068FF-1B6B-42FE-BEE3-E09DB41A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FE5E8"/>
                </a:solidFill>
              </a:defRPr>
            </a:pPr>
            <a:r>
              <a:rPr sz="1875" b="1">
                <a:solidFill>
                  <a:srgbClr val="6FE5E8"/>
                </a:solidFill>
              </a:rPr>
              <a:t>可生成作品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7FAA0-E780-419A-8A43-88235C50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8E2F0"/>
                </a:solidFill>
              </a:defRPr>
            </a:pPr>
            <a:r>
              <a:rPr sz="1575" b="0">
                <a:solidFill>
                  <a:srgbClr val="D8E2F0"/>
                </a:solidFill>
              </a:rPr>
              <a:t>系統不只描述世界，也持續產生網站、歌曲、小說、圖像與 Demo。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CCCCE-75AA-4A95-9A30-9B73F253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01BEC-3C57-4B5E-BFCC-3017CFBE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329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FBCF05-6A72-45BE-980B-3225BED7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02 / NAMING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4DF24-3BCC-4890-B318-E26ADA30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三個名稱，各自回答不同層次的問題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92505-39E0-4F28-8145-8A0920AC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6CA2A-AA67-41AF-99B4-FE421A85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2766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3AA9A-660D-4C78-BA51-2546E113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LOC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BD713-A31B-4FCC-9716-1BE5F164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95625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AA7FF"/>
                </a:solidFill>
              </a:defRPr>
            </a:pPr>
            <a:r>
              <a:rPr sz="1650" b="1">
                <a:solidFill>
                  <a:srgbClr val="5AA7FF"/>
                </a:solidFill>
              </a:rPr>
              <a:t>月典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D7DCA-0DF1-438C-B536-3B2ED483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278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7C9DC-11AC-41FF-9F90-67FE8B14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2781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8E2F0"/>
                </a:solidFill>
              </a:defRPr>
            </a:pPr>
            <a:r>
              <a:rPr sz="1500" b="0">
                <a:solidFill>
                  <a:srgbClr val="D8E2F0"/>
                </a:solidFill>
              </a:rPr>
              <a:t>整體語言系統與治理框架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F7F7E-0FFD-400F-9845-2DF95458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32766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22847"/>
          </a:solidFill>
          <a:ln xmlns:a="http://schemas.openxmlformats.org/drawingml/2006/main" w="9525">
            <a:solidFill>
              <a:srgbClr val="5A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6468B-CBB4-452C-87CF-7A8DDA46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9D9FF"/>
                </a:solidFill>
              </a:defRPr>
            </a:pPr>
            <a:r>
              <a:rPr sz="2025" b="1">
                <a:solidFill>
                  <a:srgbClr val="B9D9FF"/>
                </a:solidFill>
              </a:rPr>
              <a:t>Luna Codex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20FED-2F52-4DA7-BB3C-8983B0AD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95625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AA7FF"/>
                </a:solidFill>
              </a:defRPr>
            </a:pPr>
            <a:r>
              <a:rPr sz="1650" b="1">
                <a:solidFill>
                  <a:srgbClr val="5AA7FF"/>
                </a:solidFill>
              </a:rPr>
              <a:t>月之符文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825FA-2D08-4A8A-88D9-0C351919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67125"/>
            <a:ext cx="278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80B45-089C-49AE-B6F5-4CFCDB22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24300"/>
            <a:ext cx="2781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8E2F0"/>
                </a:solidFill>
              </a:defRPr>
            </a:pPr>
            <a:r>
              <a:rPr sz="1500" b="0">
                <a:solidFill>
                  <a:srgbClr val="D8E2F0"/>
                </a:solidFill>
              </a:rPr>
              <a:t>核心符文語彙、牌面與語意資料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A6715-A3A0-45DB-B073-2DBECBB2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05050"/>
            <a:ext cx="32766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D25C6-1DEC-4474-9909-7C8290C7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OW3gs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8F425-D732-4DBB-8C82-C5E3D889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95625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AA7FF"/>
                </a:solidFill>
              </a:defRPr>
            </a:pPr>
            <a:r>
              <a:rPr sz="1650" b="1">
                <a:solidFill>
                  <a:srgbClr val="5AA7FF"/>
                </a:solidFill>
              </a:rPr>
              <a:t>作者規則層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36BCD-61A0-42F7-9108-D18742D4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67125"/>
            <a:ext cx="278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A49CD-C5DF-4CEC-B229-059F54E4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24300"/>
            <a:ext cx="2781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8E2F0"/>
                </a:solidFill>
              </a:defRPr>
            </a:pPr>
            <a:r>
              <a:rPr sz="1500" b="0">
                <a:solidFill>
                  <a:srgbClr val="D8E2F0"/>
                </a:solidFill>
              </a:rPr>
              <a:t>個人方法、7–11 法則與實驗性推演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9A615-D021-4FCC-BE29-F53147BA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AEBBD0"/>
                </a:solidFill>
              </a:defRPr>
            </a:pPr>
            <a:r>
              <a:rPr sz="1575" b="0">
                <a:solidFill>
                  <a:srgbClr val="AEBBD0"/>
                </a:solidFill>
              </a:rPr>
              <a:t>名稱分工清楚，才能避免把整個 LOC 誤讀成單一占卜工具。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1DCB3-B265-4688-B844-019D70C5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0059F-259A-43E6-87FB-DC425871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17694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44D0F6-E9CA-45D4-821E-93A9DBE4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03 / CANON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9F692-1F7D-493F-B0B0-DD0FC651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Canon 固定骨架，但不凍結作品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D9867-016B-4DA4-A057-03FE72C1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EBBD0"/>
                </a:solidFill>
              </a:defRPr>
            </a:pPr>
            <a:r>
              <a:rPr sz="1350" b="0">
                <a:solidFill>
                  <a:srgbClr val="AEBBD0"/>
                </a:solidFill>
              </a:rPr>
              <a:t>不再變動的是座標系；仍可演化的是內容、資料與實作。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06A65-FD3E-4A53-91E7-88541297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481C9-A1FD-4127-9376-F78A352E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9525">
            <a:solidFill>
              <a:srgbClr val="5AA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5A561-3681-48C9-87C9-611A6144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A7FF"/>
                </a:solidFill>
              </a:defRPr>
            </a:pPr>
            <a:r>
              <a:rPr sz="2025" b="1">
                <a:solidFill>
                  <a:srgbClr val="5AA7FF"/>
                </a:solidFill>
              </a:rPr>
              <a:t>不可變核心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5E2BC-7ED0-47DF-BF0C-00FB37CB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• 66 符文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BAF1E-E548-44EE-B302-7A8DB6E1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95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不增不減，位序固定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B121B-8333-4EBF-A125-1E0AC033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• LOC 1–8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D7601-0A8A-4EA7-AE9B-7BBE4426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19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分發骨架止於 8，不存在 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3B25F-BEAE-45FD-AE7D-B629DA0D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• 四向語意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87B2C-4A93-4243-B7BD-E279CBB3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433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正／半正／半逆／逆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54707-FE94-4958-AD9D-EA64062C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• 母資料治理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E7147-9419-413F-9D74-7B05B7FC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67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來源優先序與同步規則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AD93E-F9AE-4A9B-A0DA-9E7FCABC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9525">
            <a:solidFill>
              <a:srgbClr val="987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BC10C-48C3-4860-83DB-23410D9A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495550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987BFF"/>
                </a:solidFill>
              </a:defRPr>
            </a:pPr>
            <a:r>
              <a:rPr sz="2025" b="1">
                <a:solidFill>
                  <a:srgbClr val="987BFF"/>
                </a:solidFill>
              </a:rPr>
              <a:t>持續演化層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52D09-60D3-4F09-BB6F-FCDA56A8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095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• 作品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F42F5-5B27-48BD-82FB-7366AD5B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95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歌曲、小說、MV 與治理文本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C5E37-7BEC-415A-B4DF-2A6A85EA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619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• 技術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6783B-E683-4275-AA77-436DB8E1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619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PWA、Embedding、RAG、向量檢索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8086E-36D8-4E05-9ED2-32E948F2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1433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• 敘事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8A341-55B5-41EE-9742-1E52D7B2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433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ERA、Canon 文件與公開介紹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54440-D164-461B-8823-5A26CF1A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667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• 應用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ADC567-EA6D-4E56-B677-33361410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667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Demo、遊戲規則與生活入口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C10B75-C903-42F6-BB6E-FD7AAE99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F38867-4ED2-40AE-905B-A515E275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736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6B7F9-219A-42DC-BAB3-2B978AE8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04 / RUNE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227D6-6F9A-4D6D-A726-115202CE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第 0 符是基準，真正牌組從 1 到 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BDBBD-7D15-4CA9-AE46-65DD4A5A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E864F-83F9-4502-9AF0-EF7EBBB4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190750" cy="32385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4203A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1B45C-42EE-4C77-A8C7-2E5EE994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695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100" b="1">
                <a:solidFill>
                  <a:srgbClr val="D8E2F0"/>
                </a:solidFill>
              </a:defRPr>
            </a:pPr>
            <a:r>
              <a:rPr sz="5100" b="1">
                <a:solidFill>
                  <a:srgbClr val="D8E2F0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7F582-4DBB-41DA-B2B3-2B7DDE9A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4F7FB"/>
                </a:solidFill>
              </a:defRPr>
            </a:pPr>
            <a:r>
              <a:rPr sz="2850" b="1">
                <a:solidFill>
                  <a:srgbClr val="F4F7FB"/>
                </a:solidFill>
              </a:rPr>
              <a:t>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6B166-EBE2-4C6B-8EA1-F2F59FE8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1695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EBBD0"/>
                </a:solidFill>
              </a:defRPr>
            </a:pPr>
            <a:r>
              <a:rPr sz="1350" b="0">
                <a:solidFill>
                  <a:srgbClr val="AEBBD0"/>
                </a:solidFill>
              </a:rPr>
              <a:t>作者基準符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AEBBD0"/>
                </a:solidFill>
              </a:defRPr>
            </a:pPr>
            <a:r>
              <a:rPr sz="1350" b="0">
                <a:solidFill>
                  <a:srgbClr val="AEBBD0"/>
                </a:solidFill>
              </a:rPr>
              <a:t>不列入牌組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AEBBD0"/>
                </a:solidFill>
              </a:defRPr>
            </a:pPr>
            <a:r>
              <a:rPr sz="1350" b="0">
                <a:solidFill>
                  <a:srgbClr val="AEBBD0"/>
                </a:solidFill>
              </a:rPr>
              <a:t>不參與抽牌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D832D-237B-4AFC-B157-19D843D9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66950"/>
            <a:ext cx="54292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9525">
            <a:solidFill>
              <a:srgbClr val="5AA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C5267-16E4-4F07-A4B5-7AEB20C8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5AA7FF"/>
                </a:solidFill>
              </a:defRPr>
            </a:pPr>
            <a:r>
              <a:rPr sz="4050" b="1">
                <a:solidFill>
                  <a:srgbClr val="5AA7FF"/>
                </a:solidFill>
              </a:rPr>
              <a:t>1–64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81C67-2233-48B8-BB75-256E6B60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八個八符文組 × 四種月相平衡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285D1-3C52-441D-B62C-891D0D26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8E2F0"/>
                </a:solidFill>
              </a:defRPr>
            </a:pPr>
            <a:r>
              <a:rPr sz="1500" b="0">
                <a:solidFill>
                  <a:srgbClr val="D8E2F0"/>
                </a:solidFill>
              </a:rPr>
              <a:t>每個八符組中，四種卡片月相各出現兩次。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D8E2F0"/>
                </a:solidFill>
              </a:defRPr>
            </a:pPr>
            <a:r>
              <a:rPr sz="1500" b="0">
                <a:solidFill>
                  <a:srgbClr val="D8E2F0"/>
                </a:solidFill>
              </a:rPr>
              <a:t>LunaRune64.xlsx 為母資料與最高優先來源。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99E84-1377-4F9A-9EAF-886218CB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2667000" cy="3238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51A32"/>
          </a:solidFill>
          <a:ln xmlns:a="http://schemas.openxmlformats.org/drawingml/2006/main" w="9525">
            <a:solidFill>
              <a:srgbClr val="987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69A7A-CAEF-4448-AB21-50A717DE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5270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987BFF"/>
                </a:solidFill>
              </a:defRPr>
            </a:pPr>
            <a:r>
              <a:rPr sz="2700" b="1">
                <a:solidFill>
                  <a:srgbClr val="987BFF"/>
                </a:solidFill>
              </a:rPr>
              <a:t>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2AD46-6E35-40D9-8185-21165BF1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527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玄 / chaos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DF53E-30BB-4D45-BAC7-EF5C46DF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86125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501F0-AD2F-46F7-AED7-CBB54871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4330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B9D9FF"/>
                </a:solidFill>
              </a:defRPr>
            </a:pPr>
            <a:r>
              <a:rPr sz="2700" b="1">
                <a:solidFill>
                  <a:srgbClr val="B9D9FF"/>
                </a:solidFill>
              </a:rPr>
              <a:t>66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557E9-9855-40A5-B5A9-320F0C73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433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命 / fate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C3F07-5854-4C65-8515-E536E3FC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005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AEBBD0"/>
                </a:solidFill>
              </a:defRPr>
            </a:pPr>
            <a:r>
              <a:rPr sz="1425" b="0">
                <a:solidFill>
                  <a:srgbClr val="AEBBD0"/>
                </a:solidFill>
              </a:rPr>
              <a:t>特殊終端符文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AEBBD0"/>
                </a:solidFill>
              </a:defRPr>
            </a:pPr>
            <a:r>
              <a:rPr sz="1425" b="0">
                <a:solidFill>
                  <a:srgbClr val="AEBBD0"/>
                </a:solidFill>
              </a:rPr>
              <a:t>先玄，後命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66489A-A495-44EB-98E9-26725D9B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15CDB-216E-4293-BE7A-B19E136C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90640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7C499-32F2-4102-B5E2-FC20F70C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05 / FOUR DIRECTIONS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E7C3E-AC90-4DBE-8255-AA6BC6DA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同一符文沿四個方向改變語意張力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C3300-C8BC-434E-ACDB-73AC7875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7A5CA-BA5F-46DC-A0B8-AD87F9B2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79D7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A1BB0-A59D-4F2F-B8F1-79FC7232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79D7A6"/>
                </a:solidFill>
              </a:defRPr>
            </a:pPr>
            <a:r>
              <a:rPr sz="1875" b="1">
                <a:solidFill>
                  <a:srgbClr val="79D7A6"/>
                </a:solidFill>
              </a:rPr>
              <a:t>正位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8EBED-78DB-4923-A16E-DED8C60D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7A6"/>
          </a:solidFill>
          <a:ln xmlns:a="http://schemas.openxmlformats.org/drawingml/2006/main" w="0">
            <a:solidFill>
              <a:srgbClr val="79D7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89E95-326A-4148-A869-4D41E738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71875"/>
            <a:ext cx="190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D8E2F0"/>
                </a:solidFill>
              </a:defRPr>
            </a:pPr>
            <a:r>
              <a:rPr sz="1425" b="0">
                <a:solidFill>
                  <a:srgbClr val="D8E2F0"/>
                </a:solidFill>
              </a:rPr>
              <a:t>顯性、順向、直接展開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506EC-828B-40D3-9D5F-CB4EC91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6FE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7E080-AC1B-4F81-BBFE-8819AE4F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1937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6FE5E8"/>
                </a:solidFill>
              </a:defRPr>
            </a:pPr>
            <a:r>
              <a:rPr sz="1875" b="1">
                <a:solidFill>
                  <a:srgbClr val="6FE5E8"/>
                </a:solidFill>
              </a:rPr>
              <a:t>半正位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B0ADC-CAC0-4DE2-AB5A-520885F2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5755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5E8"/>
          </a:solidFill>
          <a:ln xmlns:a="http://schemas.openxmlformats.org/drawingml/2006/main" w="0">
            <a:solidFill>
              <a:srgbClr val="6FE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CCA9A-255C-49D1-A563-948E08F4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71875"/>
            <a:ext cx="190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D8E2F0"/>
                </a:solidFill>
              </a:defRPr>
            </a:pPr>
            <a:r>
              <a:rPr sz="1425" b="0">
                <a:solidFill>
                  <a:srgbClr val="D8E2F0"/>
                </a:solidFill>
              </a:rPr>
              <a:t>偏順、未滿、正在形成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7E767-FFED-4FB9-ABBF-46183FA9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FFB0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C3469-8A53-4F00-97C8-648072C4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B066"/>
                </a:solidFill>
              </a:defRPr>
            </a:pPr>
            <a:r>
              <a:rPr sz="1875" b="1">
                <a:solidFill>
                  <a:srgbClr val="FFB066"/>
                </a:solidFill>
              </a:rPr>
              <a:t>半逆位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F00FB-DF1F-48E1-BE71-25FBA3A3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66"/>
          </a:solidFill>
          <a:ln xmlns:a="http://schemas.openxmlformats.org/drawingml/2006/main" w="0">
            <a:solidFill>
              <a:srgbClr val="FFB0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F50CA-FCF9-4D7E-8891-092D24DC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190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D8E2F0"/>
                </a:solidFill>
              </a:defRPr>
            </a:pPr>
            <a:r>
              <a:rPr sz="1425" b="0">
                <a:solidFill>
                  <a:srgbClr val="D8E2F0"/>
                </a:solidFill>
              </a:rPr>
              <a:t>偏阻、失衡、仍可調整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5C980-CA01-43DB-8896-8D174F7A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73E1F-DC1A-449C-9245-B37CCFF7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1937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7A86"/>
                </a:solidFill>
              </a:defRPr>
            </a:pPr>
            <a:r>
              <a:rPr sz="1875" b="1">
                <a:solidFill>
                  <a:srgbClr val="FF7A86"/>
                </a:solidFill>
              </a:rPr>
              <a:t>逆位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EBF25-CADB-4C1A-AD31-1A067259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5755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6"/>
          </a:solidFill>
          <a:ln xmlns:a="http://schemas.openxmlformats.org/drawingml/2006/main" w="0">
            <a:solidFill>
              <a:srgbClr val="FF7A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EB5C4-93E1-4085-AB75-FD148B44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71875"/>
            <a:ext cx="190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D8E2F0"/>
                </a:solidFill>
              </a:defRPr>
            </a:pPr>
            <a:r>
              <a:rPr sz="1425" b="0">
                <a:solidFill>
                  <a:srgbClr val="D8E2F0"/>
                </a:solidFill>
              </a:rPr>
              <a:t>阻滯、反向、內化或警示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BA834-FFE7-4AFC-8F16-7D9B8291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9D9FF"/>
                </a:solidFill>
              </a:defRPr>
            </a:pPr>
            <a:r>
              <a:rPr sz="1650" b="1">
                <a:solidFill>
                  <a:srgbClr val="B9D9FF"/>
                </a:solidFill>
              </a:rPr>
              <a:t>四向不是單純的好／壞標籤，而是語意狀態、張力與行動位置。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F247F-C0D1-4DD7-A12F-57A53602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0CF365-73C8-41A3-A277-EE6B305A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62770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566481-FEFF-45A9-8A8B-C971C55A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06 / SEMANTIC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7E722-052F-48F4-B043-5578C430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詞義必須固定，否則整套系統會漂移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E34CA-DAE8-4962-B6EB-8B4D2CCB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0DA0C-4C11-4336-B4A3-7E14B74C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124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15129-83E9-4932-B6EE-7F09C923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AA7FF"/>
                </a:solidFill>
              </a:defRPr>
            </a:pPr>
            <a:r>
              <a:rPr sz="2100" b="1">
                <a:solidFill>
                  <a:srgbClr val="5AA7FF"/>
                </a:solidFill>
              </a:rPr>
              <a:t>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D4396-5F64-4FBC-B11C-ADAF3180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28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9FF"/>
                </a:solidFill>
              </a:defRPr>
            </a:pPr>
            <a:r>
              <a:rPr sz="1350" b="1">
                <a:solidFill>
                  <a:srgbClr val="B9D9FF"/>
                </a:solidFill>
              </a:rPr>
              <a:t>blank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B1810-94B5-4925-A369-4CC42C5F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76500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2F0"/>
                </a:solidFill>
              </a:defRPr>
            </a:pPr>
            <a:r>
              <a:rPr sz="1275" b="0">
                <a:solidFill>
                  <a:srgbClr val="D8E2F0"/>
                </a:solidFill>
              </a:rPr>
              <a:t>一切可能，尚未落筆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3D227-922E-4622-9668-090DA5C6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5124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59694-9084-40CD-9CAC-51D44F1C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AA7FF"/>
                </a:solidFill>
              </a:defRPr>
            </a:pPr>
            <a:r>
              <a:rPr sz="2100" b="1">
                <a:solidFill>
                  <a:srgbClr val="5AA7FF"/>
                </a:solidFill>
              </a:rPr>
              <a:t>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EEF54-8332-414D-92FE-F5C4A9C3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051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9FF"/>
                </a:solidFill>
              </a:defRPr>
            </a:pPr>
            <a:r>
              <a:rPr sz="1350" b="1">
                <a:solidFill>
                  <a:srgbClr val="B9D9FF"/>
                </a:solidFill>
              </a:rPr>
              <a:t>void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AC171-8F58-406F-B0B8-294B637D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52800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2F0"/>
                </a:solidFill>
              </a:defRPr>
            </a:pPr>
            <a:r>
              <a:rPr sz="1275" b="0">
                <a:solidFill>
                  <a:srgbClr val="D8E2F0"/>
                </a:solidFill>
              </a:rPr>
              <a:t>空洞／未實化狀態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91189-3A52-4F1A-975C-1FACAC79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124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EF2E5-285D-47CD-B07C-247F3168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AA7FF"/>
                </a:solidFill>
              </a:defRPr>
            </a:pPr>
            <a:r>
              <a:rPr sz="2100" b="1">
                <a:solidFill>
                  <a:srgbClr val="5AA7FF"/>
                </a:solidFill>
              </a:rPr>
              <a:t>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41690-1012-4F3F-B1DC-DE29CC2E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814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9FF"/>
                </a:solidFill>
              </a:defRPr>
            </a:pPr>
            <a:r>
              <a:rPr sz="1350" b="1">
                <a:solidFill>
                  <a:srgbClr val="B9D9FF"/>
                </a:solidFill>
              </a:rPr>
              <a:t>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09671-DE25-4B0D-B213-858DA5BA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29100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2F0"/>
                </a:solidFill>
              </a:defRPr>
            </a:pPr>
            <a:r>
              <a:rPr sz="1275" b="0">
                <a:solidFill>
                  <a:srgbClr val="D8E2F0"/>
                </a:solidFill>
              </a:rPr>
              <a:t>承載與間距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128E7-8270-4720-BAF7-9379DFDF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124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AC1E9-3D01-4ACE-BD51-2F87C408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AA7FF"/>
                </a:solidFill>
              </a:defRPr>
            </a:pPr>
            <a:r>
              <a:rPr sz="2100" b="1">
                <a:solidFill>
                  <a:srgbClr val="5AA7FF"/>
                </a:solidFill>
              </a:rPr>
              <a:t>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3AF45-A040-4579-B593-D496490B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577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9FF"/>
                </a:solidFill>
              </a:defRPr>
            </a:pPr>
            <a:r>
              <a:rPr sz="1350" b="1">
                <a:solidFill>
                  <a:srgbClr val="B9D9FF"/>
                </a:solidFill>
              </a:rPr>
              <a:t>breath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22B83-FB17-4309-815F-B9D856FA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05400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2F0"/>
                </a:solidFill>
              </a:defRPr>
            </a:pPr>
            <a:r>
              <a:rPr sz="1275" b="0">
                <a:solidFill>
                  <a:srgbClr val="D8E2F0"/>
                </a:solidFill>
              </a:rPr>
              <a:t>氣息，不等同 air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17271-7FBB-4FCD-B7E0-5537127E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52650"/>
            <a:ext cx="5124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E34E8-7D83-4572-819B-D0387E12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AA7FF"/>
                </a:solidFill>
              </a:defRPr>
            </a:pPr>
            <a:r>
              <a:rPr sz="2100" b="1">
                <a:solidFill>
                  <a:srgbClr val="5AA7FF"/>
                </a:solidFill>
              </a:rPr>
              <a:t>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E46C61-B90C-48C7-A32C-83D32FDF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28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9FF"/>
                </a:solidFill>
              </a:defRPr>
            </a:pPr>
            <a:r>
              <a:rPr sz="1350" b="1">
                <a:solidFill>
                  <a:srgbClr val="B9D9FF"/>
                </a:solidFill>
              </a:rPr>
              <a:t>shadow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5CB3E-E61B-4F44-A192-B90B22AB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2F0"/>
                </a:solidFill>
              </a:defRPr>
            </a:pPr>
            <a:r>
              <a:rPr sz="1275" b="0">
                <a:solidFill>
                  <a:srgbClr val="D8E2F0"/>
                </a:solidFill>
              </a:rPr>
              <a:t>陰影元素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97FE7F-16C7-4A30-8DEE-7950F01F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5124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56A58-5D08-47FE-81FD-4AF3CA70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242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AA7FF"/>
                </a:solidFill>
              </a:defRPr>
            </a:pPr>
            <a:r>
              <a:rPr sz="2100" b="1">
                <a:solidFill>
                  <a:srgbClr val="5AA7FF"/>
                </a:solidFill>
              </a:rPr>
              <a:t>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6D45D-2F81-428C-A0FF-F25DF1E2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051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9FF"/>
                </a:solidFill>
              </a:defRPr>
            </a:pPr>
            <a:r>
              <a:rPr sz="1350" b="1">
                <a:solidFill>
                  <a:srgbClr val="B9D9FF"/>
                </a:solidFill>
              </a:rPr>
              <a:t>chaos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316A59-E5FC-4564-B232-1E153582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52800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2F0"/>
                </a:solidFill>
              </a:defRPr>
            </a:pPr>
            <a:r>
              <a:rPr sz="1275" b="0">
                <a:solidFill>
                  <a:srgbClr val="D8E2F0"/>
                </a:solidFill>
              </a:rPr>
              <a:t>混沌，不再譯作 mystery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8E6636-4D26-44C3-946F-F6033402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124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6EB91E-1D49-4CF2-937B-1EF6D09C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AA7FF"/>
                </a:solidFill>
              </a:defRPr>
            </a:pPr>
            <a:r>
              <a:rPr sz="2100" b="1">
                <a:solidFill>
                  <a:srgbClr val="5AA7FF"/>
                </a:solidFill>
              </a:rPr>
              <a:t>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77C90D-E4A1-4B90-88E4-D33A9760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9FF"/>
                </a:solidFill>
              </a:defRPr>
            </a:pPr>
            <a:r>
              <a:rPr sz="1350" b="1">
                <a:solidFill>
                  <a:srgbClr val="B9D9FF"/>
                </a:solidFill>
              </a:rPr>
              <a:t>error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A0EF7B-4978-451C-9AF4-F72971D3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29100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2F0"/>
                </a:solidFill>
              </a:defRPr>
            </a:pPr>
            <a:r>
              <a:rPr sz="1275" b="0">
                <a:solidFill>
                  <a:srgbClr val="D8E2F0"/>
                </a:solidFill>
              </a:rPr>
              <a:t>獨立錯誤概念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34D289-367D-44D6-B2D1-C0FA107E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DCCC8A-67F6-49B5-B4B1-9D86AB27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6254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393DBD-358D-4F3F-B74B-7BA0914F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07 / EIGHT DISTRIBUTIONS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77752-F693-46CC-8A7A-1B28883F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一個核心，分發為八種可辨識的責任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892BB-675E-4DF8-B155-FE002DC6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2775C-DB4C-43C7-855E-43338ED6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33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4ACD1-390A-4C3E-8CF0-0539E7E4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193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AA7FF"/>
                </a:solidFill>
              </a:defRPr>
            </a:pPr>
            <a:r>
              <a:rPr sz="2175" b="1">
                <a:solidFill>
                  <a:srgbClr val="5AA7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8441C-0BB7-4C60-AC85-2D8E1FE9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Lots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6D9E6-5B75-4484-8E6A-2B71B27F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9FF"/>
                </a:solidFill>
              </a:defRPr>
            </a:pPr>
            <a:r>
              <a:rPr sz="1350" b="1">
                <a:solidFill>
                  <a:srgbClr val="B9D9FF"/>
                </a:solidFill>
              </a:rPr>
              <a:t>符文／抽籤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6B31B-B00E-49E1-B7BA-7B738E6C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05075"/>
            <a:ext cx="417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EBBD0"/>
                </a:solidFill>
              </a:defRPr>
            </a:pPr>
            <a:r>
              <a:rPr sz="1200" b="0">
                <a:solidFill>
                  <a:srgbClr val="AEBBD0"/>
                </a:solidFill>
              </a:rPr>
              <a:t>抽牌、籤詩、每日趨勢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064EC-4AE5-445B-9DE4-243BCEB1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533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0757F-29D9-4FF9-AAB9-05D014F4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81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AA7FF"/>
                </a:solidFill>
              </a:defRPr>
            </a:pPr>
            <a:r>
              <a:rPr sz="2175" b="1">
                <a:solidFill>
                  <a:srgbClr val="5AA7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39CC0-5240-4565-A441-6120BDF3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527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Game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A909E-C4AB-42E1-86E0-39216E5A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527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9FF"/>
                </a:solidFill>
              </a:defRPr>
            </a:pPr>
            <a:r>
              <a:rPr sz="1350" b="1">
                <a:solidFill>
                  <a:srgbClr val="B9D9FF"/>
                </a:solidFill>
              </a:rPr>
              <a:t>遊戲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A2C44-4FE7-43F4-8FCB-8C0DF0EB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67100"/>
            <a:ext cx="417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EBBD0"/>
                </a:solidFill>
              </a:defRPr>
            </a:pPr>
            <a:r>
              <a:rPr sz="1200" b="0">
                <a:solidFill>
                  <a:srgbClr val="AEBBD0"/>
                </a:solidFill>
              </a:rPr>
              <a:t>Semantic Playground · Alpha 試玩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4472C-429E-4DC6-A120-F264B27B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533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32A49"/>
          </a:solidFill>
          <a:ln xmlns:a="http://schemas.openxmlformats.org/drawingml/2006/main" w="9525">
            <a:solidFill>
              <a:srgbClr val="5A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3D72A-AF55-429B-BB91-085F9D19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433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B9D9FF"/>
                </a:solidFill>
              </a:defRPr>
            </a:pPr>
            <a:r>
              <a:rPr sz="2175" b="1">
                <a:solidFill>
                  <a:srgbClr val="B9D9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9B4FE-4E57-4BF6-8F29-78A080FF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1480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Music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04524-D88A-4766-9F8E-DB2B72EE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9FF"/>
                </a:solidFill>
              </a:defRPr>
            </a:pPr>
            <a:r>
              <a:rPr sz="1350" b="1">
                <a:solidFill>
                  <a:srgbClr val="B9D9FF"/>
                </a:solidFill>
              </a:rPr>
              <a:t>音樂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8A5FCF-0946-4176-B152-233A4128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29125"/>
            <a:ext cx="417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EBBD0"/>
                </a:solidFill>
              </a:defRPr>
            </a:pPr>
            <a:r>
              <a:rPr sz="1200" b="0">
                <a:solidFill>
                  <a:srgbClr val="AEBBD0"/>
                </a:solidFill>
              </a:rPr>
              <a:t>政德風、符文寫歌、語意檢索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4649A-CC9C-4740-A7A1-8D157650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533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0B050-767D-4345-84C7-7DBA8EED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054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AA7FF"/>
                </a:solidFill>
              </a:defRPr>
            </a:pPr>
            <a:r>
              <a:rPr sz="2175" b="1">
                <a:solidFill>
                  <a:srgbClr val="5AA7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7CCF3-6C46-4BD1-80AF-C2AD084D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768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Writing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7ED15-86BB-4616-BA8E-36239775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768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9FF"/>
                </a:solidFill>
              </a:defRPr>
            </a:pPr>
            <a:r>
              <a:rPr sz="1350" b="1">
                <a:solidFill>
                  <a:srgbClr val="B9D9FF"/>
                </a:solidFill>
              </a:rPr>
              <a:t>文字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723A6-4CD5-40EB-B538-F131491E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91150"/>
            <a:ext cx="417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EBBD0"/>
                </a:solidFill>
              </a:defRPr>
            </a:pPr>
            <a:r>
              <a:rPr sz="1200" b="0">
                <a:solidFill>
                  <a:srgbClr val="AEBBD0"/>
                </a:solidFill>
              </a:rPr>
              <a:t>七大篇小說與文字創作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A3F69-ED0A-4A09-93CE-F52EB27C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533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8D83B9-E154-40D0-B8CC-E74AFAC7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193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AA7FF"/>
                </a:solidFill>
              </a:defRPr>
            </a:pPr>
            <a:r>
              <a:rPr sz="2175" b="1">
                <a:solidFill>
                  <a:srgbClr val="5AA7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CCBF0-A481-4D66-983F-048A9A24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Resonance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832EF3-59E6-454E-B842-6FC07F7E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9FF"/>
                </a:solidFill>
              </a:defRPr>
            </a:pPr>
            <a:r>
              <a:rPr sz="1350" b="1">
                <a:solidFill>
                  <a:srgbClr val="B9D9FF"/>
                </a:solidFill>
              </a:rPr>
              <a:t>共鳴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7F1357-E3DA-4896-9488-92BB0780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05075"/>
            <a:ext cx="417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EBBD0"/>
                </a:solidFill>
              </a:defRPr>
            </a:pPr>
            <a:r>
              <a:rPr sz="1200" b="0">
                <a:solidFill>
                  <a:srgbClr val="AEBBD0"/>
                </a:solidFill>
              </a:rPr>
              <a:t>66 張符文圖卡與多媒體素材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00C491-BC1A-4BC3-A171-85079DC2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57525"/>
            <a:ext cx="533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DC5F50-A607-441A-B38D-D64DB6A4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81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AA7FF"/>
                </a:solidFill>
              </a:defRPr>
            </a:pPr>
            <a:r>
              <a:rPr sz="2175" b="1">
                <a:solidFill>
                  <a:srgbClr val="5AA7FF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BF96E9-786B-472E-806B-B34789D5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527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Governance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0B3C63-3924-4A9A-8F92-DDCAFB87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527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9FF"/>
                </a:solidFill>
              </a:defRPr>
            </a:pPr>
            <a:r>
              <a:rPr sz="1350" b="1">
                <a:solidFill>
                  <a:srgbClr val="B9D9FF"/>
                </a:solidFill>
              </a:rPr>
              <a:t>治理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60EC1-A786-4283-BD00-383BE9AA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417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EBBD0"/>
                </a:solidFill>
              </a:defRPr>
            </a:pPr>
            <a:r>
              <a:rPr sz="1200" b="0">
                <a:solidFill>
                  <a:srgbClr val="AEBBD0"/>
                </a:solidFill>
              </a:rPr>
              <a:t>政德風與語言人格防火牆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AE00D0-2351-47AA-A009-56B6896F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19550"/>
            <a:ext cx="533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B80D7C-9B7C-40DC-A85F-E55E15CE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433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AA7FF"/>
                </a:solidFill>
              </a:defRPr>
            </a:pPr>
            <a:r>
              <a:rPr sz="2175" b="1">
                <a:solidFill>
                  <a:srgbClr val="5AA7FF"/>
                </a:solidFill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DC2468-8E5F-483E-A0C0-E729B1D6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Text Architecture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B67D47-48C0-494B-B29A-BD5F0D15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14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9FF"/>
                </a:solidFill>
              </a:defRPr>
            </a:pPr>
            <a:r>
              <a:rPr sz="1350" b="1">
                <a:solidFill>
                  <a:srgbClr val="B9D9FF"/>
                </a:solidFill>
              </a:rPr>
              <a:t>文字建築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36F9DC-1F16-4670-BDA9-B663E5DE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29125"/>
            <a:ext cx="417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EBBD0"/>
                </a:solidFill>
              </a:defRPr>
            </a:pPr>
            <a:r>
              <a:rPr sz="1200" b="0">
                <a:solidFill>
                  <a:srgbClr val="AEBBD0"/>
                </a:solidFill>
              </a:rPr>
              <a:t>起承轉合；Graph RAG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4664A0-D121-4A8A-A6EF-577256DB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81575"/>
            <a:ext cx="533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DBD4B4-A407-4C0C-B278-918B064C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1054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AA7FF"/>
                </a:solidFill>
              </a:defRPr>
            </a:pPr>
            <a:r>
              <a:rPr sz="2175" b="1">
                <a:solidFill>
                  <a:srgbClr val="5AA7FF"/>
                </a:solidFill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5353D6-E348-4E16-99A0-31D374A8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768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Life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11EF7F-0919-4E6B-AFF2-78768326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768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D9FF"/>
                </a:solidFill>
              </a:defRPr>
            </a:pPr>
            <a:r>
              <a:rPr sz="1350" b="1">
                <a:solidFill>
                  <a:srgbClr val="B9D9FF"/>
                </a:solidFill>
              </a:rPr>
              <a:t>生活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23C2F9-3B79-4361-82B5-A9F2A4C3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91150"/>
            <a:ext cx="417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EBBD0"/>
                </a:solidFill>
              </a:defRPr>
            </a:pPr>
            <a:r>
              <a:rPr sz="1200" b="0">
                <a:solidFill>
                  <a:srgbClr val="AEBBD0"/>
                </a:solidFill>
              </a:rPr>
              <a:t>趨勢分析與跨域整合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2E427D-CC40-4D34-859D-2E85424B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8D8A8A-094F-47BE-8A82-7474495A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07155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EE8FE-2BE9-4F43-8ED6-1FBF180F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08 / SYSTEM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FDAAC-731B-4094-9889-BAEC60D9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所有分發都回到同一條治理鏈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EC84F-54AF-4726-953C-FC1EEA3F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62CA5-E782-4473-B10D-B96CCAFF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286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73456"/>
          </a:solidFill>
          <a:ln xmlns:a="http://schemas.openxmlformats.org/drawingml/2006/main" w="9525">
            <a:solidFill>
              <a:srgbClr val="5AA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7496E-B30F-4AB8-90B3-323D9E08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9D9FF"/>
                </a:solidFill>
              </a:defRPr>
            </a:pPr>
            <a:r>
              <a:rPr sz="1650" b="1">
                <a:solidFill>
                  <a:srgbClr val="B9D9FF"/>
                </a:solidFill>
              </a:rPr>
              <a:t>母資料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FA9C2-8C91-4777-90C9-9AEB0178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8E2F0"/>
                </a:solidFill>
              </a:defRPr>
            </a:pPr>
            <a:r>
              <a:rPr sz="1275" b="0">
                <a:solidFill>
                  <a:srgbClr val="D8E2F0"/>
                </a:solidFill>
              </a:rPr>
              <a:t>LunaRune64.xlsx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2EF03-B914-4334-8A36-928C05B2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36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5AA7FF"/>
                </a:solidFill>
              </a:defRPr>
            </a:pPr>
            <a:r>
              <a:rPr sz="2400" b="1">
                <a:solidFill>
                  <a:srgbClr val="5AA7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BF8A7-41F6-4158-A45A-DB99EDB6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14625"/>
            <a:ext cx="2286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07362-8551-4EF0-9F6C-9C4DEEBD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52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語意規格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4E620-12C6-4091-8645-7AD75F02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7662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8E2F0"/>
                </a:solidFill>
              </a:defRPr>
            </a:pPr>
            <a:r>
              <a:rPr sz="1275" b="0">
                <a:solidFill>
                  <a:srgbClr val="D8E2F0"/>
                </a:solidFill>
              </a:rPr>
              <a:t>符文 × 四向 × 詞義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B9180-132E-4D66-81EB-C9D37B44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43250"/>
            <a:ext cx="36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5AA7FF"/>
                </a:solidFill>
              </a:defRPr>
            </a:pPr>
            <a:r>
              <a:rPr sz="2400" b="1">
                <a:solidFill>
                  <a:srgbClr val="5AA7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48635-41F4-4B1B-807D-6090CCD9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14625"/>
            <a:ext cx="2286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E3FBD-64AB-4303-9085-286BB6E8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分發層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80FF0-1884-482F-8D28-7AF260C2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7662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8E2F0"/>
                </a:solidFill>
              </a:defRPr>
            </a:pPr>
            <a:r>
              <a:rPr sz="1275" b="0">
                <a:solidFill>
                  <a:srgbClr val="D8E2F0"/>
                </a:solidFill>
              </a:rPr>
              <a:t>LOC1–8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D6653-251F-4FFF-B951-36DC167D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36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5AA7FF"/>
                </a:solidFill>
              </a:defRPr>
            </a:pPr>
            <a:r>
              <a:rPr sz="2400" b="1">
                <a:solidFill>
                  <a:srgbClr val="5AA7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89EB9-8ED5-49FB-82DC-704670F6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2286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20F60-EA04-4C25-8E15-71868848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作品／應用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EA0BA-91D9-430A-B21F-41E1397B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7662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8E2F0"/>
                </a:solidFill>
              </a:defRPr>
            </a:pPr>
            <a:r>
              <a:rPr sz="1275" b="0">
                <a:solidFill>
                  <a:srgbClr val="D8E2F0"/>
                </a:solidFill>
              </a:rPr>
              <a:t>網站、歌、文、Demo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6505B-6924-43B2-A04A-B345429D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9D9FF"/>
                </a:solidFill>
              </a:defRPr>
            </a:pPr>
            <a:r>
              <a:rPr sz="1650" b="1">
                <a:solidFill>
                  <a:srgbClr val="B9D9FF"/>
                </a:solidFill>
              </a:rPr>
              <a:t>修改應由源頭向下同步；應用結果不能反過來偷偷改寫 Canon。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870E9-CEFD-4B44-873C-50C9A298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731EC8-3CED-4E5F-BAD3-56BC2D0C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27700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9BE27-8DAA-4EC8-9F78-D5EA6809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09 / LOC1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686A0-A932-4A5B-9CE8-B9EC3CBA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抽籤是最成熟的入口，也是語意組合的壓力測試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578D1-D973-4BC0-83B1-43239AB5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7E28D-C8C5-4378-B734-E35072BC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6667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9525">
            <a:solidFill>
              <a:srgbClr val="5AA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1EE68-F932-4CB9-9A76-FE6630EF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AA7FF"/>
                </a:solidFill>
              </a:defRPr>
            </a:pPr>
            <a:r>
              <a:rPr sz="1875" b="1">
                <a:solidFill>
                  <a:srgbClr val="5AA7FF"/>
                </a:solidFill>
              </a:rPr>
              <a:t>現行能力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2B2F6-A205-4E10-8011-0BEFFC97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8E2F0"/>
                </a:solidFill>
              </a:defRPr>
            </a:pPr>
            <a:r>
              <a:rPr sz="1425" b="0">
                <a:solidFill>
                  <a:srgbClr val="D8E2F0"/>
                </a:solidFill>
              </a:rPr>
              <a:t>• 單抽、雙抽、三抽、五抽系統已完成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A4F61-6444-4E02-B93D-7D05CBA7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8E2F0"/>
                </a:solidFill>
              </a:defRPr>
            </a:pPr>
            <a:r>
              <a:rPr sz="1425" b="0">
                <a:solidFill>
                  <a:srgbClr val="D8E2F0"/>
                </a:solidFill>
              </a:rPr>
              <a:t>• PWA 每日抽與各符文資料查詢已上線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9B907-395D-450B-A3DA-3106CE59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8E2F0"/>
                </a:solidFill>
              </a:defRPr>
            </a:pPr>
            <a:r>
              <a:rPr sz="1425" b="0">
                <a:solidFill>
                  <a:srgbClr val="D8E2F0"/>
                </a:solidFill>
              </a:rPr>
              <a:t>• 66 符文 × 四向形成 264 個基本語意狀態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DC64E-4220-4C92-9237-83EE719C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8E2F0"/>
                </a:solidFill>
              </a:defRPr>
            </a:pPr>
            <a:r>
              <a:rPr sz="1425" b="0">
                <a:solidFill>
                  <a:srgbClr val="D8E2F0"/>
                </a:solidFill>
              </a:rPr>
              <a:t>• 多牌組合用來驗證語意協調，而非隨機造句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C9808-D843-4965-80D0-9B60FD28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37909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987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8E90E-27C4-481B-B615-84780BBB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321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987BFF"/>
                </a:solidFill>
              </a:defRPr>
            </a:pPr>
            <a:r>
              <a:rPr sz="2025" b="1">
                <a:solidFill>
                  <a:srgbClr val="987BFF"/>
                </a:solidFill>
              </a:rPr>
              <a:t>7–11 法則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E0BFD-100B-4921-B9A9-2495F4D1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1945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第 7 至第 11 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11526-1FB2-4D54-A374-3D55AC63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321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D8E2F0"/>
                </a:solidFill>
              </a:defRPr>
            </a:pPr>
            <a:r>
              <a:rPr sz="1575" b="0">
                <a:solidFill>
                  <a:srgbClr val="D8E2F0"/>
                </a:solidFill>
              </a:rPr>
              <a:t>作為決定命運的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D8E2F0"/>
                </a:solidFill>
              </a:defRPr>
            </a:pPr>
            <a:r>
              <a:rPr sz="1575" b="0">
                <a:solidFill>
                  <a:srgbClr val="D8E2F0"/>
                </a:solidFill>
              </a:rPr>
              <a:t>核心判定區間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77B94-1586-4837-99DF-38126CB7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EBBD0"/>
                </a:solidFill>
              </a:defRPr>
            </a:pPr>
            <a:r>
              <a:rPr sz="1125" b="0">
                <a:solidFill>
                  <a:srgbClr val="AEBBD0"/>
                </a:solidFill>
              </a:rPr>
              <a:t>OW3gs 個人規則層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4961C-C0CA-44F3-A192-D56BA73A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EBA91-2F93-4ACC-AC7D-668B901B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46914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F89D5-CFF5-4797-AC41-0104C011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10 / LOC3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D538A-4174-45D6-9F8C-050A236F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LOC3 將個人語意轉化為音樂作品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4B0D1-F4E3-49B2-9AF1-84505D07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3E246-A9C7-4EE1-9B97-F873AB18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095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11F38"/>
          </a:solidFill>
          <a:ln xmlns:a="http://schemas.openxmlformats.org/drawingml/2006/main" w="9525">
            <a:solidFill>
              <a:srgbClr val="5AA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59692-1D3E-4199-BE44-AD0F12E1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9D9FF"/>
                </a:solidFill>
              </a:defRPr>
            </a:pPr>
            <a:r>
              <a:rPr sz="2025" b="1">
                <a:solidFill>
                  <a:srgbClr val="B9D9FF"/>
                </a:solidFill>
              </a:rPr>
              <a:t>政德風／符文寫歌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84E5F-25D1-48B4-9BCC-D06A1211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8E2F0"/>
                </a:solidFill>
              </a:defRPr>
            </a:pPr>
            <a:r>
              <a:rPr sz="1650" b="0">
                <a:solidFill>
                  <a:srgbClr val="D8E2F0"/>
                </a:solidFill>
              </a:rPr>
              <a:t>兩年多的音樂作品累積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8E2F0"/>
                </a:solidFill>
              </a:defRPr>
            </a:pPr>
            <a:r>
              <a:rPr sz="1650" b="0">
                <a:solidFill>
                  <a:srgbClr val="D8E2F0"/>
                </a:solidFill>
              </a:rPr>
              <a:t>歌詞作為語意基準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8E2F0"/>
                </a:solidFill>
              </a:defRPr>
            </a:pPr>
            <a:r>
              <a:rPr sz="1650" b="0">
                <a:solidFill>
                  <a:srgbClr val="D8E2F0"/>
                </a:solidFill>
              </a:rPr>
              <a:t>情境與曲風作為檢索訊號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3A37A-8064-41FD-8D0A-5146C7BB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EBBD0"/>
                </a:solidFill>
              </a:defRPr>
            </a:pPr>
            <a:r>
              <a:rPr sz="1275" b="0">
                <a:solidFill>
                  <a:srgbClr val="AEBBD0"/>
                </a:solidFill>
              </a:rPr>
              <a:t>不是以歌名判斷歌曲是否相同。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668C9-CCEC-4AE3-81A6-DAC6C69C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6381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987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E72EC-C379-4822-91F8-6D6E6D05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987BFF"/>
                </a:solidFill>
              </a:defRPr>
            </a:pPr>
            <a:r>
              <a:rPr sz="2025" b="1">
                <a:solidFill>
                  <a:srgbClr val="987BFF"/>
                </a:solidFill>
              </a:rPr>
              <a:t>LOC3 的兩條實作路徑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FA02F-FF51-4514-9C1E-04597972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86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Embedding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BC9DE-A6FE-4ED3-B667-6D875338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861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將歌詞映射為語意向量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8AF25-D3D1-4DCC-8100-5B4B8EB5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00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相似度檢索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58808-22CC-4772-98B7-9170A5E4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004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找出主題與情緒相近的歌曲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5B7F5-78FE-4C8E-95E9-8DAEC727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14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播放清單精修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107FD-519B-4C44-B1A9-965D568F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14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ERA 先分期，向量再校準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C4A68-47E9-4E40-855D-CD2B7CAE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29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OW3gs 十一張抽牌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2B8E3-3475-4E22-A39E-74FE48C5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291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解讀情境，再轉化為歌詞與歌曲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105CF-097B-4DE8-8EB1-20166E7E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A1D10-8684-49E8-948D-89681637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569021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3B042-CE5A-4136-98B6-A6B0FF8E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11 / LOC4–5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C1D89-C7F2-4310-B5D2-2B5F92BC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文字已有大型作品，視覺也已有具體素材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BF50F-2E23-426E-9A72-821F9F37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36D07-47CA-4D77-A6AD-F2F5203C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09587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9525">
            <a:solidFill>
              <a:srgbClr val="5AA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44B2E-3ABB-4030-A7AB-1D7F63C8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A7FF"/>
                </a:solidFill>
              </a:defRPr>
            </a:pPr>
            <a:r>
              <a:rPr sz="2025" b="1">
                <a:solidFill>
                  <a:srgbClr val="5AA7FF"/>
                </a:solidFill>
              </a:rPr>
              <a:t>LOC4 · Writing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1FDC6-867B-4515-A759-F9B77624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52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8E2F0"/>
                </a:solidFill>
              </a:defRPr>
            </a:pPr>
            <a:r>
              <a:rPr sz="1650" b="0">
                <a:solidFill>
                  <a:srgbClr val="D8E2F0"/>
                </a:solidFill>
              </a:rPr>
              <a:t>七大篇長篇小說，全文約 22 萬字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8E2F0"/>
                </a:solidFill>
              </a:defRPr>
            </a:pPr>
            <a:r>
              <a:rPr sz="1650" b="0">
                <a:solidFill>
                  <a:srgbClr val="D8E2F0"/>
                </a:solidFill>
              </a:rPr>
              <a:t>另有其他小說、符文文本與角色創作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2F624-3BA1-4BE0-9BF8-CBD1E2A7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EBBD0"/>
                </a:solidFill>
              </a:defRPr>
            </a:pPr>
            <a:r>
              <a:rPr sz="1275" b="0">
                <a:solidFill>
                  <a:srgbClr val="AEBBD0"/>
                </a:solidFill>
              </a:rPr>
              <a:t>LOC4 已形成可展示的大型文本成果。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2F212-41F4-4207-B68F-3DAAF43A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86000"/>
            <a:ext cx="509587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9525">
            <a:solidFill>
              <a:srgbClr val="987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AF68C-F6B2-4D12-AE85-3355AD5D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55270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987BFF"/>
                </a:solidFill>
              </a:defRPr>
            </a:pPr>
            <a:r>
              <a:rPr sz="2025" b="1">
                <a:solidFill>
                  <a:srgbClr val="987BFF"/>
                </a:solidFill>
              </a:rPr>
              <a:t>LOC5 · Resonance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E5F6D-42BE-4E53-B324-DD943E71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200400"/>
            <a:ext cx="452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8E2F0"/>
                </a:solidFill>
              </a:defRPr>
            </a:pPr>
            <a:r>
              <a:rPr sz="1650" b="0">
                <a:solidFill>
                  <a:srgbClr val="D8E2F0"/>
                </a:solidFill>
              </a:rPr>
              <a:t>66 張符文圖卡與多媒體素材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1F0DD-21F1-4BBA-A0E1-72FEA086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76250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EBBD0"/>
                </a:solidFill>
              </a:defRPr>
            </a:pPr>
            <a:r>
              <a:rPr sz="1275" b="0">
                <a:solidFill>
                  <a:srgbClr val="AEBBD0"/>
                </a:solidFill>
              </a:rPr>
              <a:t>LOC5 已有基礎素材，現階段相對較薄。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B86DB-8461-4936-B974-0E7C18E8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687A1-6D75-46E2-A1CA-7E3539F9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798331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E8FF8-9EEC-4AD5-BDF8-2B15A8C9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12 / LOC6–7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AA71F-F414-4B4D-869D-8133E12B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LOC6 已形成風格核心；LOC7 從起承轉合起步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13A17-3EA9-4577-98FB-93A95E1A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CFBCB-9285-42EF-904D-B02BA56E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095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9525">
            <a:solidFill>
              <a:srgbClr val="79D7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8870B-BB81-4C7F-A1DE-0F8AD737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9D7A6"/>
                </a:solidFill>
              </a:defRPr>
            </a:pPr>
            <a:r>
              <a:rPr sz="1875" b="1">
                <a:solidFill>
                  <a:srgbClr val="79D7A6"/>
                </a:solidFill>
              </a:rPr>
              <a:t>LOC6 · 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F74C8-4391-43DD-A59E-2114E256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政德風語錄、價值觀與語言治理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BC01D-567F-42B8-A1C4-0D535D59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8E2F0"/>
                </a:solidFill>
              </a:defRPr>
            </a:pPr>
            <a:r>
              <a:rPr sz="1425" b="0">
                <a:solidFill>
                  <a:srgbClr val="D8E2F0"/>
                </a:solidFill>
              </a:rPr>
              <a:t>語言人格防火牆：拆劇本、斷頻率、反話術、回收主權。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C859B-6662-4F85-AB95-0807804E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57550"/>
            <a:ext cx="51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5AA7FF"/>
                </a:solidFill>
              </a:defRPr>
            </a:pPr>
            <a:r>
              <a:rPr sz="2700" b="1">
                <a:solidFill>
                  <a:srgbClr val="5AA7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380C5-BA03-47AA-BA91-473795C1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00300"/>
            <a:ext cx="6000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9525">
            <a:solidFill>
              <a:srgbClr val="6FE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F5430-F02E-4F01-A140-7E816E65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670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FE5E8"/>
                </a:solidFill>
              </a:defRPr>
            </a:pPr>
            <a:r>
              <a:rPr sz="1875" b="1">
                <a:solidFill>
                  <a:srgbClr val="6FE5E8"/>
                </a:solidFill>
              </a:rPr>
              <a:t>LOC7 · Text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527AC-85FD-43AE-A998-3FF07A88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766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Hello World!：起承轉合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086C4-D198-4D31-ABA4-D1D63CC0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29050"/>
            <a:ext cx="5191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8E2F0"/>
                </a:solidFill>
              </a:defRPr>
            </a:pPr>
            <a:r>
              <a:rPr sz="1425" b="0">
                <a:solidFill>
                  <a:srgbClr val="D8E2F0"/>
                </a:solidFill>
              </a:rPr>
              <a:t>第一套新手文字建築學；其他方向仍待補齊。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7D2D1-268D-4FBA-8BAF-3F8998BD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B9D9FF"/>
                </a:solidFill>
              </a:defRPr>
            </a:pPr>
            <a:r>
              <a:rPr sz="1575" b="1">
                <a:solidFill>
                  <a:srgbClr val="B9D9FF"/>
                </a:solidFill>
              </a:rPr>
              <a:t>後續整合各分發語意向量，建立關係化結構與 Graph RAG。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68D7B-D907-4FCE-8448-F9D703F1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8B6AF-C0F1-423B-9C5C-1FA60C6D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194737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1615F-A690-4D00-B1CA-70B1EDD8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13 / LOC8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8B297-58C3-4A32-81F1-9287BB17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LOC8 以趨勢分析承接生活與跨域資料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58D7F-D334-435A-8AFA-141B561B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32CBA-8870-47C1-AD25-9AF9D71D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190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900" b="1">
                <a:solidFill>
                  <a:srgbClr val="5AA7FF"/>
                </a:solidFill>
              </a:defRPr>
            </a:pPr>
            <a:r>
              <a:rPr sz="9900" b="1">
                <a:solidFill>
                  <a:srgbClr val="5AA7FF"/>
                </a:solidFill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8753A-11A8-4D2D-8CA7-E1FB25C2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86000"/>
            <a:ext cx="81534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9525">
            <a:solidFill>
              <a:srgbClr val="5AA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59680-5B0B-4B51-9AFB-7A3A650E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7175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</a:defRPr>
            </a:pPr>
            <a:r>
              <a:rPr sz="2175" b="1">
                <a:solidFill>
                  <a:srgbClr val="B9D9FF"/>
                </a:solidFill>
              </a:rPr>
              <a:t>Life / 趨勢與綜合分析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B701C-2436-4727-8B0F-7F5051F3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575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8E2F0"/>
                </a:solidFill>
              </a:defRPr>
            </a:pPr>
            <a:r>
              <a:rPr sz="1650" b="0">
                <a:solidFill>
                  <a:srgbClr val="D8E2F0"/>
                </a:solidFill>
              </a:rPr>
              <a:t>• 日常抽牌與長期趨勢觀測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8E2F0"/>
                </a:solidFill>
              </a:defRPr>
            </a:pPr>
            <a:r>
              <a:rPr sz="1650" b="0">
                <a:solidFill>
                  <a:srgbClr val="D8E2F0"/>
                </a:solidFill>
              </a:rPr>
              <a:t>• 跨分發資料與作品的綜合分析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8E2F0"/>
                </a:solidFill>
              </a:defRPr>
            </a:pPr>
            <a:r>
              <a:rPr sz="1650" b="0">
                <a:solidFill>
                  <a:srgbClr val="D8E2F0"/>
                </a:solidFill>
              </a:rPr>
              <a:t>• 生活情境、規則與個人紀錄的接合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8E2F0"/>
                </a:solidFill>
              </a:defRPr>
            </a:pPr>
            <a:r>
              <a:rPr sz="1650" b="0">
                <a:solidFill>
                  <a:srgbClr val="D8E2F0"/>
                </a:solidFill>
              </a:rPr>
              <a:t>• 承接 1–7 未完整涵蓋的項目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F6A12-AE3D-4B41-9EB9-5206A996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38750"/>
            <a:ext cx="815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87BFF"/>
                </a:solidFill>
              </a:defRPr>
            </a:pPr>
            <a:r>
              <a:rPr sz="1725" b="1">
                <a:solidFill>
                  <a:srgbClr val="987BFF"/>
                </a:solidFill>
              </a:rPr>
              <a:t>LOC8 持續收斂資料來源、分析方法與呈現形式。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E4DC7-1EC3-4303-BEC5-B6CDF8C7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3A8A4-2032-444A-B73A-E9B19F65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127787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537385-3F6A-4FC3-A143-A9B18315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14 /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16866-50EC-4C87-A150-38725B29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技術選型服務於治理，而不是搶走主角位置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807A4-485D-4831-ADA4-6C5CEBDD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D35A1-59C5-4BE5-9D3A-584BB1D4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952625" cy="2333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950FA-5D33-4898-A104-2EB698DB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AA7FF"/>
                </a:solidFill>
              </a:defRPr>
            </a:pPr>
            <a:r>
              <a:rPr sz="1725" b="1">
                <a:solidFill>
                  <a:srgbClr val="5AA7FF"/>
                </a:solidFill>
              </a:rPr>
              <a:t>資料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B4F9A-A42D-41FC-9263-593125F5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343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91940-8D8F-4447-BF78-E57EEBF8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495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Excel / JSON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母資料與衍生資料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C791D-BDEF-450D-ABA7-97253555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81250"/>
            <a:ext cx="1952625" cy="2333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ECB8B-3B06-4971-A6BC-4A2A7A77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098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AA7FF"/>
                </a:solidFill>
              </a:defRPr>
            </a:pPr>
            <a:r>
              <a:rPr sz="1725" b="1">
                <a:solidFill>
                  <a:srgbClr val="5AA7FF"/>
                </a:solidFill>
              </a:rPr>
              <a:t>前端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E6580-07B0-4689-8F04-9B782796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43250"/>
            <a:ext cx="1343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97F6D-A005-485B-A5B2-271768B7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29000"/>
            <a:ext cx="1495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Next.js / React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PWA 與互動介面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3297B-20F8-4EEF-B394-712751F2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81250"/>
            <a:ext cx="1952625" cy="2333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6FE5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6D452-57B3-44FB-86D9-C468D18B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098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6FE5E8"/>
                </a:solidFill>
              </a:defRPr>
            </a:pPr>
            <a:r>
              <a:rPr sz="1725" b="1">
                <a:solidFill>
                  <a:srgbClr val="6FE5E8"/>
                </a:solidFill>
              </a:rPr>
              <a:t>語意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39E07-2C30-47D3-B76A-ACEB69AC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43250"/>
            <a:ext cx="1343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5E8"/>
          </a:solidFill>
          <a:ln xmlns:a="http://schemas.openxmlformats.org/drawingml/2006/main" w="0">
            <a:solidFill>
              <a:srgbClr val="6FE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0AB49-73B8-41ED-A552-BE48360F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1495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Embedding / FAISS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相似度與向量索引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394BA-4712-4C03-8CED-1A04B35D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81250"/>
            <a:ext cx="1952625" cy="2333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A747C-9103-44A6-B4D1-EA6E629F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098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AA7FF"/>
                </a:solidFill>
              </a:defRPr>
            </a:pPr>
            <a:r>
              <a:rPr sz="1725" b="1">
                <a:solidFill>
                  <a:srgbClr val="5AA7FF"/>
                </a:solidFill>
              </a:rPr>
              <a:t>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16DCB-78A8-448A-B5E0-4BFC8DDF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43250"/>
            <a:ext cx="1343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F031C-B4A8-45D7-8C64-43255A72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1495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RAG / LLM API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依資料回答與解釋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1657B-F2E5-4959-8374-FF636C7D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1952625" cy="2333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62085-B361-474D-BC7B-C5C07C52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AA7FF"/>
                </a:solidFill>
              </a:defRPr>
            </a:pPr>
            <a:r>
              <a:rPr sz="1725" b="1">
                <a:solidFill>
                  <a:srgbClr val="5AA7FF"/>
                </a:solidFill>
              </a:rPr>
              <a:t>部署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1D864-28EE-4672-834C-692F62F1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43250"/>
            <a:ext cx="1343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9173FB-B643-4C59-B2AE-1E1A3A3B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29000"/>
            <a:ext cx="1495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Vercel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雲端 API 與公開 Demo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583330-EF1A-4940-95B2-D4D6E2EA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B9D9FF"/>
                </a:solidFill>
              </a:defRPr>
            </a:pPr>
            <a:r>
              <a:rPr sz="1575" b="1">
                <a:solidFill>
                  <a:srgbClr val="B9D9FF"/>
                </a:solidFill>
              </a:rPr>
              <a:t>原則：先有可追溯資料，再讓模型參與；不以模型幻想補齊缺失規格。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55896-2A6D-405E-93C8-D4E022FE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6AF91A-0912-489B-9B06-052387DE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081433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F7879D-E1CC-4D60-B1FA-55C7358B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15 /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BE133-747E-4850-A274-B7E0DF65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LOC 已在四種媒介中具現化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CF776-FEB2-48D7-8229-3E49B9F0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109A8-F65A-42D3-B40A-A15C9AD6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5AA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34F5E-D1C4-4875-BD72-858909B2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AA7FF"/>
                </a:solidFill>
              </a:defRPr>
            </a:pPr>
            <a:r>
              <a:rPr sz="2100" b="1">
                <a:solidFill>
                  <a:srgbClr val="5AA7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75D4B-4C4C-46D1-9792-8C0F090B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LOC1 · PWA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6C8D4-A55A-4BEF-8CB6-A4552D93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8E2F0"/>
                </a:solidFill>
              </a:defRPr>
            </a:pPr>
            <a:r>
              <a:rPr sz="1425" b="0">
                <a:solidFill>
                  <a:srgbClr val="D8E2F0"/>
                </a:solidFill>
              </a:rPr>
              <a:t>66 符文 · 多種抽牌 · 每日抽取 · 離線快取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7DECC-76EA-441B-8C63-6E5B11D3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AA7FF"/>
                </a:solidFill>
              </a:defRPr>
            </a:pPr>
            <a:r>
              <a:rPr sz="1350" b="1">
                <a:solidFill>
                  <a:srgbClr val="5AA7FF"/>
                </a:solidFill>
              </a:rPr>
              <a:t>運作中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6889F-1D2A-4DF7-ACD1-722247C7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987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9C165-394A-4607-A8DF-BE8E4A98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87BFF"/>
                </a:solidFill>
              </a:defRPr>
            </a:pPr>
            <a:r>
              <a:rPr sz="2100" b="1">
                <a:solidFill>
                  <a:srgbClr val="987B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DE46F-2193-4837-85CF-CB6C9C60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909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LOC2 · Semantic Playground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88E06-BC1B-4CBF-84CD-1C2BA622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8E2F0"/>
                </a:solidFill>
              </a:defRPr>
            </a:pPr>
            <a:r>
              <a:rPr sz="1425" b="0">
                <a:solidFill>
                  <a:srgbClr val="D8E2F0"/>
                </a:solidFill>
              </a:rPr>
              <a:t>MVP v1.3 Alpha · 八職業 · 32 張事件卡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10138-7F5B-475D-8028-BA17B522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87BFF"/>
                </a:solidFill>
              </a:defRPr>
            </a:pPr>
            <a:r>
              <a:rPr sz="1350" b="1">
                <a:solidFill>
                  <a:srgbClr val="987BFF"/>
                </a:solidFill>
              </a:rPr>
              <a:t>準備實體試玩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99D09-4DD0-4EE9-956A-DAC79552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6FE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130E4-4EA6-47BD-9C45-62702271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FE5E8"/>
                </a:solidFill>
              </a:defRPr>
            </a:pPr>
            <a:r>
              <a:rPr sz="2100" b="1">
                <a:solidFill>
                  <a:srgbClr val="6FE5E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598FC-EECD-4889-96E3-2424FF41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14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LOC3–4 · 音樂與小說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C102C-3509-46BE-A816-999E312B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8E2F0"/>
                </a:solidFill>
              </a:defRPr>
            </a:pPr>
            <a:r>
              <a:rPr sz="1425" b="0">
                <a:solidFill>
                  <a:srgbClr val="D8E2F0"/>
                </a:solidFill>
              </a:rPr>
              <a:t>符文寫歌與語意檢索 · 七大篇約 22 萬字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6A8CC-B0AA-4515-8A26-ECE1EA69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FE5E8"/>
                </a:solidFill>
              </a:defRPr>
            </a:pPr>
            <a:r>
              <a:rPr sz="1350" b="1">
                <a:solidFill>
                  <a:srgbClr val="6FE5E8"/>
                </a:solidFill>
              </a:rPr>
              <a:t>作品成果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3217A3-8992-4261-A6BF-4719B68C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82EC7-4BBF-4636-9CD1-22A009AD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10836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4985E-29E1-4F8D-A500-60191793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A7FF"/>
                </a:solidFill>
              </a:defRPr>
            </a:pPr>
            <a:r>
              <a:rPr sz="1050" b="1">
                <a:solidFill>
                  <a:srgbClr val="5AA7FF"/>
                </a:solidFill>
              </a:rPr>
              <a:t>16 / LOC2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E9AB2-4851-4748-82BF-F76EAD8E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LOC2 把「理解語意」變成可以互動的桌遊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7430C-C530-47CD-9FAF-F95F9115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C58"/>
          </a:solidFill>
          <a:ln xmlns:a="http://schemas.openxmlformats.org/drawingml/2006/main" w="0">
            <a:solidFill>
              <a:srgbClr val="2A3C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42FE3-38A6-4AE7-A565-8C44FA16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334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00152-4193-4145-90C1-95BC0465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86025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5AA7FF"/>
                </a:solidFill>
              </a:defRPr>
            </a:pPr>
            <a:r>
              <a:rPr sz="2400" b="1">
                <a:solidFill>
                  <a:srgbClr val="5AA7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22319-068B-4A60-83FA-F82C81C9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世界提出事件或問題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7FE63-4592-4FB2-8705-B27608DF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5334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4B9DF-DB3E-44E1-9B3E-094815E2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86025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5AA7FF"/>
                </a:solidFill>
              </a:defRPr>
            </a:pPr>
            <a:r>
              <a:rPr sz="2400" b="1">
                <a:solidFill>
                  <a:srgbClr val="5AA7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51C46-14C5-475F-A337-77828038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765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玩家用手中的符文組成回答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8E466-780A-49BA-9733-EAAA97F1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5334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A3C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DACB2-6856-4429-96D8-DC4F9E32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5AA7FF"/>
                </a:solidFill>
              </a:defRPr>
            </a:pPr>
            <a:r>
              <a:rPr sz="2400" b="1">
                <a:solidFill>
                  <a:srgbClr val="5AA7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A581F-82FA-46AF-9DE2-8938F911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不同答案彼此影響與共振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D4156-1DF7-45F6-9FD4-A68E404C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5334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987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BFE03-C541-4D7F-B525-EF57F85E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05275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987BFF"/>
                </a:solidFill>
              </a:defRPr>
            </a:pPr>
            <a:r>
              <a:rPr sz="2400" b="1">
                <a:solidFill>
                  <a:srgbClr val="987BF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64043-76DD-40F7-9D44-D9E1023F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957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逐步形成一個暫時成立的定義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22C8E-32E7-4D27-85E6-BBC30653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LOC / LUNA CODEX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5C11A-6EFD-4698-8ACB-57A3798F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EBBD0"/>
                </a:solidFill>
              </a:defRPr>
            </a:pPr>
            <a:r>
              <a:rPr sz="825" b="1">
                <a:solidFill>
                  <a:srgbClr val="AEBBD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504328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3DE06-7AD4-42E5-93BF-BC23ECB8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4F7FB"/>
                </a:solidFill>
              </a:defRPr>
            </a:pPr>
            <a:r>
              <a:rPr sz="3150" b="1">
                <a:solidFill>
                  <a:srgbClr val="F4F7FB"/>
                </a:solidFill>
              </a:rPr>
              <a:t>LOC 的核心不是預言未來，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CB937-FEA0-4FDF-A3CC-907EDB01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B9D9FF"/>
                </a:solidFill>
              </a:defRPr>
            </a:pPr>
            <a:r>
              <a:rPr sz="2700" b="1">
                <a:solidFill>
                  <a:srgbClr val="B9D9FF"/>
                </a:solidFill>
              </a:rPr>
              <a:t>而是讓語言、作品與人生選擇擁有一致的座標。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0CC0A-15B6-48B2-90E4-B915FE9B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241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5AA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2E36A-5603-49A6-A9A0-6096DD1F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5AA7FF"/>
                </a:solidFill>
              </a:defRPr>
            </a:pPr>
            <a:r>
              <a:rPr sz="1875" b="1">
                <a:solidFill>
                  <a:srgbClr val="5AA7FF"/>
                </a:solidFill>
              </a:rPr>
              <a:t>固定骨架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93C77-60EB-458D-ADF8-48C63873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87BFF"/>
                </a:solidFill>
              </a:defRPr>
            </a:pPr>
            <a:r>
              <a:rPr sz="1875" b="1">
                <a:solidFill>
                  <a:srgbClr val="987BFF"/>
                </a:solidFill>
              </a:rPr>
              <a:t>可治理語意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BE1E2-FA93-422D-9AAD-3E19347F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6FE5E8"/>
                </a:solidFill>
              </a:defRPr>
            </a:pPr>
            <a:r>
              <a:rPr sz="1875" b="1">
                <a:solidFill>
                  <a:srgbClr val="6FE5E8"/>
                </a:solidFill>
              </a:rPr>
              <a:t>持續生成作品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B3D73-DEF2-408C-BF61-5D535B53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66 符文 × 四向語意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3C4B9-BB2F-4705-B83A-DBA1F249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Canon × 母資料 × 分發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E19D6-6FFB-461E-BC5A-E5086E42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網站 × 音樂 × 文字 ×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17D52-D462-44BB-8C51-24E4CF3D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EBBD0"/>
                </a:solidFill>
              </a:defRPr>
            </a:pPr>
            <a:r>
              <a:rPr sz="1500" b="1">
                <a:solidFill>
                  <a:srgbClr val="AEBBD0"/>
                </a:solidFill>
              </a:rPr>
              <a:t>@lo3rwang · loc.lo3rwang.cc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625A6-F3CA-461D-B5DC-63DB6880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AEBBD0"/>
                </a:solidFill>
              </a:defRPr>
            </a:pPr>
            <a:r>
              <a:rPr sz="975" b="0">
                <a:solidFill>
                  <a:srgbClr val="AEBBD0"/>
                </a:solidFill>
              </a:rPr>
              <a:t>秘藝文域 EsotericVerse Studio · Lucas Oscar Wang 政德</a:t>
            </a:r>
          </a:p>
        </p:txBody>
      </p:sp>
    </p:spTree>
    <p:extLst>
      <p:ext uri="{BB962C8B-B14F-4D97-AF65-F5344CB8AC3E}">
        <p14:creationId xmlns:p14="http://schemas.microsoft.com/office/powerpoint/2010/main" val="1270766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2026-09-02T16:00:43.4320000Z</dcterms:created>
  <dcterms:modified xsi:type="dcterms:W3CDTF">2026-09-02T16:00:43.4320000Z</dcterms:modified>
</coreProperties>
</file>