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48a47544674a7b" /><Relationship Type="http://schemas.openxmlformats.org/officeDocument/2006/relationships/extended-properties" Target="/docProps/app.xml" Id="R70dd1cceb9f14490" /><Relationship Type="http://schemas.openxmlformats.org/officeDocument/2006/relationships/officeDocument" Target="/ppt/presentation.xml" Id="R3158eb6b7a5348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c13979f90f4d6a"/>
  </p:sldMasterIdLst>
  <p:notesMasterIdLst>
    <p:notesMasterId xmlns:r="http://schemas.openxmlformats.org/officeDocument/2006/relationships" r:id="R09acffc0a90344e6"/>
  </p:notesMasterIdLst>
  <p:sldIdLst>
    <p:sldId xmlns:r="http://schemas.openxmlformats.org/officeDocument/2006/relationships" id="256" r:id="R8bb7f829aff7464e"/>
    <p:sldId xmlns:r="http://schemas.openxmlformats.org/officeDocument/2006/relationships" id="257" r:id="R947af3c84a8d4a74"/>
    <p:sldId xmlns:r="http://schemas.openxmlformats.org/officeDocument/2006/relationships" id="258" r:id="Rbe6382de37d94ab5"/>
    <p:sldId xmlns:r="http://schemas.openxmlformats.org/officeDocument/2006/relationships" id="259" r:id="R290528bd1c2e4604"/>
    <p:sldId xmlns:r="http://schemas.openxmlformats.org/officeDocument/2006/relationships" id="260" r:id="Rb36dfa1694e8401f"/>
    <p:sldId xmlns:r="http://schemas.openxmlformats.org/officeDocument/2006/relationships" id="261" r:id="Rd479db3b4f6842cf"/>
    <p:sldId xmlns:r="http://schemas.openxmlformats.org/officeDocument/2006/relationships" id="262" r:id="Ra19627f643144043"/>
    <p:sldId xmlns:r="http://schemas.openxmlformats.org/officeDocument/2006/relationships" id="263" r:id="R50a1716cd1b0474c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a0cdaa2cde4ee7" /><Relationship Type="http://schemas.openxmlformats.org/officeDocument/2006/relationships/slideMaster" Target="/ppt/slideMasters/slideMaster1.xml" Id="R53c13979f90f4d6a" /><Relationship Type="http://schemas.openxmlformats.org/officeDocument/2006/relationships/notesMaster" Target="/ppt/notesMasters/notesMaster1.xml" Id="R09acffc0a90344e6" /><Relationship Type="http://schemas.openxmlformats.org/officeDocument/2006/relationships/presProps" Target="/ppt/presProps.xml" Id="R5a7ba9b864e145cb" /><Relationship Type="http://schemas.openxmlformats.org/officeDocument/2006/relationships/tableStyles" Target="/ppt/tableStyles.xml" Id="Rb035ce6d7e5f4616" /><Relationship Type="http://schemas.openxmlformats.org/officeDocument/2006/relationships/slide" Target="/ppt/slides/slide1.xml" Id="R8bb7f829aff7464e" /><Relationship Type="http://schemas.openxmlformats.org/officeDocument/2006/relationships/slide" Target="/ppt/slides/slide2.xml" Id="R947af3c84a8d4a74" /><Relationship Type="http://schemas.openxmlformats.org/officeDocument/2006/relationships/slide" Target="/ppt/slides/slide3.xml" Id="Rbe6382de37d94ab5" /><Relationship Type="http://schemas.openxmlformats.org/officeDocument/2006/relationships/slide" Target="/ppt/slides/slide4.xml" Id="R290528bd1c2e4604" /><Relationship Type="http://schemas.openxmlformats.org/officeDocument/2006/relationships/slide" Target="/ppt/slides/slide5.xml" Id="Rb36dfa1694e8401f" /><Relationship Type="http://schemas.openxmlformats.org/officeDocument/2006/relationships/slide" Target="/ppt/slides/slide6.xml" Id="Rd479db3b4f6842cf" /><Relationship Type="http://schemas.openxmlformats.org/officeDocument/2006/relationships/slide" Target="/ppt/slides/slide7.xml" Id="Ra19627f643144043" /><Relationship Type="http://schemas.openxmlformats.org/officeDocument/2006/relationships/slide" Target="/ppt/slides/slide8.xml" Id="R50a1716cd1b047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4605ae87ad4f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0cbb2daa8b4f4e" /><Relationship Type="http://schemas.openxmlformats.org/officeDocument/2006/relationships/notesMaster" Target="/ppt/notesMasters/notesMaster1.xml" Id="Rd9b3be14524749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cda0b6e6704611" /><Relationship Type="http://schemas.openxmlformats.org/officeDocument/2006/relationships/notesMaster" Target="/ppt/notesMasters/notesMaster1.xml" Id="Rd429be9ae4dc4c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9b011dcb4f4008" /><Relationship Type="http://schemas.openxmlformats.org/officeDocument/2006/relationships/notesMaster" Target="/ppt/notesMasters/notesMaster1.xml" Id="R9de9fc37a25045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ddbe9835674bf4" /><Relationship Type="http://schemas.openxmlformats.org/officeDocument/2006/relationships/notesMaster" Target="/ppt/notesMasters/notesMaster1.xml" Id="Rc07f48b9180a4bf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0fd97f328d24f29" /><Relationship Type="http://schemas.openxmlformats.org/officeDocument/2006/relationships/notesMaster" Target="/ppt/notesMasters/notesMaster1.xml" Id="R5cf7b197e4cb4a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4851419c4a6409e" /><Relationship Type="http://schemas.openxmlformats.org/officeDocument/2006/relationships/notesMaster" Target="/ppt/notesMasters/notesMaster1.xml" Id="Rc8f0d8f2dc924e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021b0b48724813" /><Relationship Type="http://schemas.openxmlformats.org/officeDocument/2006/relationships/notesMaster" Target="/ppt/notesMasters/notesMaster1.xml" Id="R4995a7a5b01546b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dd8cfab04a49e5" /><Relationship Type="http://schemas.openxmlformats.org/officeDocument/2006/relationships/notesMaster" Target="/ppt/notesMasters/notesMaster1.xml" Id="Re81e6a188b2341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54dd8e64f846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df6c40ec1343ea" /><Relationship Type="http://schemas.openxmlformats.org/officeDocument/2006/relationships/slideLayout" Target="/ppt/slideLayouts/slideLayout1.xml" Id="Rd934971b666744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34971b666744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c82b4956d040b2" /><Relationship Type="http://schemas.openxmlformats.org/officeDocument/2006/relationships/notesSlide" Target="/ppt/notesSlides/notesSlide1.xml" Id="R37faecda172748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25db113bea406d" /><Relationship Type="http://schemas.openxmlformats.org/officeDocument/2006/relationships/notesSlide" Target="/ppt/notesSlides/notesSlide2.xml" Id="R1d79630ab7614d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8dc6f0fb934456" /><Relationship Type="http://schemas.openxmlformats.org/officeDocument/2006/relationships/notesSlide" Target="/ppt/notesSlides/notesSlide3.xml" Id="R3fbd3bba889e4b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3d5cf108c04af3" /><Relationship Type="http://schemas.openxmlformats.org/officeDocument/2006/relationships/notesSlide" Target="/ppt/notesSlides/notesSlide4.xml" Id="Ra22e59a7e49642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e140fcb1924dd1" /><Relationship Type="http://schemas.openxmlformats.org/officeDocument/2006/relationships/notesSlide" Target="/ppt/notesSlides/notesSlide5.xml" Id="Rf0d84fb40a9f44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9de9ab99234c14" /><Relationship Type="http://schemas.openxmlformats.org/officeDocument/2006/relationships/notesSlide" Target="/ppt/notesSlides/notesSlide6.xml" Id="R1b2a47c1beb1483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5d259f79a94a71" /><Relationship Type="http://schemas.openxmlformats.org/officeDocument/2006/relationships/notesSlide" Target="/ppt/notesSlides/notesSlide7.xml" Id="R4ac097d5643246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6cd12dfa504592" /><Relationship Type="http://schemas.openxmlformats.org/officeDocument/2006/relationships/notesSlide" Target="/ppt/notesSlides/notesSlide8.xml" Id="R2108c76c149042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1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A68FA9-2FC5-4D2B-81D1-596BE6C9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5D1719-B21E-417C-8831-01040895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1">
                <a:solidFill>
                  <a:srgbClr val="D7B36A"/>
                </a:solidFill>
              </a:defRPr>
            </a:pPr>
            <a:r>
              <a:rPr sz="1650" b="1">
                <a:solidFill>
                  <a:srgbClr val="D7B36A"/>
                </a:solidFill>
              </a:rPr>
              <a:t>LOC · 月典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E5208E-902A-4616-9F98-BAEEF570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53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500" b="0">
                <a:solidFill>
                  <a:srgbClr val="8997B8"/>
                </a:solidFill>
              </a:defRPr>
            </a:pPr>
            <a:r>
              <a:rPr sz="1500" b="0">
                <a:solidFill>
                  <a:srgbClr val="8997B8"/>
                </a:solidFill>
              </a:rPr>
              <a:t>01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A9781-A923-45BB-90D1-2BD97271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C58DC0-F2D3-4A4C-BF50-B57A3427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211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8997B8"/>
                </a:solidFill>
              </a:defRPr>
            </a:pPr>
            <a:r>
              <a:rPr sz="1350" b="0">
                <a:solidFill>
                  <a:srgbClr val="8997B8"/>
                </a:solidFill>
              </a:rPr>
              <a:t>秘藝文域 · EsotericVerse Studio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0D506D-CE3D-499C-AE1A-1909FB68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21105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350" b="0">
                <a:solidFill>
                  <a:srgbClr val="8997B8"/>
                </a:solidFill>
              </a:defRPr>
            </a:pPr>
            <a:r>
              <a:rPr sz="1350" b="0">
                <a:solidFill>
                  <a:srgbClr val="8997B8"/>
                </a:solidFill>
              </a:rPr>
              <a:t>loc.lo3rwang.cc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020468-862D-43AB-AFAB-4C7A7940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1925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C41D4C-9DF8-4C94-8EC9-F2DC3DAE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9060" y="1533525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11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CB988C-A5D8-4F3E-98D8-ED5A445A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342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200" b="1">
                <a:solidFill>
                  <a:srgbClr val="A88BEF"/>
                </a:solidFill>
              </a:defRPr>
            </a:pPr>
            <a:r>
              <a:rPr sz="7200" b="1">
                <a:solidFill>
                  <a:srgbClr val="A88BEF"/>
                </a:solidFill>
              </a:rPr>
              <a:t>LOC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E6A935-5DD6-4EDE-90CB-26978ED1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250" b="0">
                <a:solidFill>
                  <a:srgbClr val="D7B36A"/>
                </a:solidFill>
              </a:defRPr>
            </a:pPr>
            <a:r>
              <a:rPr sz="2250" b="0">
                <a:solidFill>
                  <a:srgbClr val="D7B36A"/>
                </a:solidFill>
              </a:rPr>
              <a:t>一套為交流而生的語言框架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97DF7E-6141-4E5A-9EB8-B18C07DC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857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500" b="1">
                <a:solidFill>
                  <a:srgbClr val="F7F1E7"/>
                </a:solidFill>
              </a:defRPr>
            </a:pPr>
            <a:r>
              <a:rPr sz="4500" b="1">
                <a:solidFill>
                  <a:srgbClr val="F7F1E7"/>
                </a:solidFill>
              </a:rPr>
              <a:t>把難以說清楚的事，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4500" b="1">
                <a:solidFill>
                  <a:srgbClr val="F7F1E7"/>
                </a:solidFill>
              </a:defRPr>
            </a:pPr>
            <a:r>
              <a:rPr sz="4500" b="1">
                <a:solidFill>
                  <a:srgbClr val="F7F1E7"/>
                </a:solidFill>
              </a:rPr>
              <a:t>變成可以交流的語言。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089BDC-0FC7-4654-B46C-77B7F90F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43800"/>
            <a:ext cx="685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2527CC-A1C4-457C-AFB9-4AE7694A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39100"/>
            <a:ext cx="8334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250" b="0">
                <a:solidFill>
                  <a:srgbClr val="C9D2E8"/>
                </a:solidFill>
              </a:defRPr>
            </a:pPr>
            <a:r>
              <a:rPr sz="2250" b="0">
                <a:solidFill>
                  <a:srgbClr val="C9D2E8"/>
                </a:solidFill>
              </a:rPr>
              <a:t>從一個問題開始，讓不同答案被看見、被理解，也能彼此共振。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E21CD5-F890-4814-879D-4AD0182C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7442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50" b="1">
                <a:solidFill>
                  <a:srgbClr val="F7F1E7"/>
                </a:solidFill>
              </a:defRPr>
            </a:pPr>
            <a:r>
              <a:rPr sz="1950" b="1">
                <a:solidFill>
                  <a:srgbClr val="F7F1E7"/>
                </a:solidFill>
              </a:rPr>
              <a:t>Lucas Oscar Wang 政德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180DDC-19CC-4738-986B-21FAD030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1633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8997B8"/>
                </a:solidFill>
              </a:defRPr>
            </a:pPr>
            <a:r>
              <a:rPr sz="1350" b="0">
                <a:solidFill>
                  <a:srgbClr val="8997B8"/>
                </a:solidFill>
              </a:rPr>
              <a:t>Language Systems Governance Architect · Wordsmith · Moon Resonator</a:t>
            </a:r>
          </a:p>
        </p:txBody>
      </p:sp>
    </p:spTree>
    <p:extLst>
      <p:ext uri="{BB962C8B-B14F-4D97-AF65-F5344CB8AC3E}">
        <p14:creationId xmlns:p14="http://schemas.microsoft.com/office/powerpoint/2010/main" val="8980257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1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406059-FFA0-4CEC-BECB-90CD7559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D6D6D4-0B09-4480-AB48-C4EAC8E9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1">
                <a:solidFill>
                  <a:srgbClr val="D7B36A"/>
                </a:solidFill>
              </a:defRPr>
            </a:pPr>
            <a:r>
              <a:rPr sz="1650" b="1">
                <a:solidFill>
                  <a:srgbClr val="D7B36A"/>
                </a:solidFill>
              </a:rPr>
              <a:t>LOC · LUNA CODEX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B7CA6D-24C3-4E26-9A68-E813AB78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53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500" b="0">
                <a:solidFill>
                  <a:srgbClr val="8997B8"/>
                </a:solidFill>
              </a:defRPr>
            </a:pPr>
            <a:r>
              <a:rPr sz="1500" b="0">
                <a:solidFill>
                  <a:srgbClr val="8997B8"/>
                </a:solidFill>
              </a:rPr>
              <a:t>02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B9CC56-B59B-4CD9-AC13-30D1FC7A0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4A589F-150F-4CF1-8ECD-ECAAD20C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211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8997B8"/>
                </a:solidFill>
              </a:defRPr>
            </a:pPr>
            <a:r>
              <a:rPr sz="1350" b="0">
                <a:solidFill>
                  <a:srgbClr val="8997B8"/>
                </a:solidFill>
              </a:rPr>
              <a:t>秘藝文域 · EsotericVerse Studio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34041B-B90D-46AF-96F9-B05795C6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21105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350" b="0">
                <a:solidFill>
                  <a:srgbClr val="8997B8"/>
                </a:solidFill>
              </a:defRPr>
            </a:pPr>
            <a:r>
              <a:rPr sz="1350" b="0">
                <a:solidFill>
                  <a:srgbClr val="8997B8"/>
                </a:solidFill>
              </a:rPr>
              <a:t>loc.lo3rwang.cc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C10AE9-023D-430D-8D0C-8A4D9226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9154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350" b="1">
                <a:solidFill>
                  <a:srgbClr val="F7F1E7"/>
                </a:solidFill>
              </a:defRPr>
            </a:pPr>
            <a:r>
              <a:rPr sz="4350" b="1">
                <a:solidFill>
                  <a:srgbClr val="F7F1E7"/>
                </a:solidFill>
              </a:rPr>
              <a:t>同一個問題，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4350" b="1">
                <a:solidFill>
                  <a:srgbClr val="F7F1E7"/>
                </a:solidFill>
              </a:defRPr>
            </a:pPr>
            <a:r>
              <a:rPr sz="4350" b="1">
                <a:solidFill>
                  <a:srgbClr val="F7F1E7"/>
                </a:solidFill>
              </a:rPr>
              <a:t>不一定只有一種說法。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AFE791-9024-4AA3-A151-AB2AA205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50" b="0">
                <a:solidFill>
                  <a:srgbClr val="C9D2E8"/>
                </a:solidFill>
              </a:defRPr>
            </a:pPr>
            <a:r>
              <a:rPr sz="2250" b="0">
                <a:solidFill>
                  <a:srgbClr val="C9D2E8"/>
                </a:solidFill>
              </a:rPr>
              <a:t>很多爭議並不是沒有答案，而是每個人使用的衡量方式不同。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CC0E61-0812-43A5-983F-BC488FCE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4050" b="1">
                <a:solidFill>
                  <a:srgbClr val="A88BEF"/>
                </a:solidFill>
              </a:defRPr>
            </a:pPr>
            <a:r>
              <a:rPr sz="4050" b="1">
                <a:solidFill>
                  <a:srgbClr val="A88BEF"/>
                </a:solidFill>
              </a:rPr>
              <a:t>感受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E39377-196D-4B9B-9EDE-5CEA2573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7437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4050" b="1">
                <a:solidFill>
                  <a:srgbClr val="D7B36A"/>
                </a:solidFill>
              </a:defRPr>
            </a:pPr>
            <a:r>
              <a:rPr sz="4050" b="1">
                <a:solidFill>
                  <a:srgbClr val="D7B36A"/>
                </a:solidFill>
              </a:rPr>
              <a:t>關係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11AB82-93D8-4BD7-91B3-A39C9A06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476875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4050" b="1">
                <a:solidFill>
                  <a:srgbClr val="91B9A2"/>
                </a:solidFill>
              </a:defRPr>
            </a:pPr>
            <a:r>
              <a:rPr sz="4050" b="1">
                <a:solidFill>
                  <a:srgbClr val="91B9A2"/>
                </a:solidFill>
              </a:rPr>
              <a:t>選擇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F227F0-BA23-4695-AF93-840A859E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553200"/>
            <a:ext cx="695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A4D057-E640-4B24-AC69-63FC0B63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496300"/>
            <a:ext cx="7715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3000" b="1">
                <a:solidFill>
                  <a:srgbClr val="F7F1E7"/>
                </a:solidFill>
              </a:defRPr>
            </a:pPr>
            <a:r>
              <a:rPr sz="3000" b="1">
                <a:solidFill>
                  <a:srgbClr val="F7F1E7"/>
                </a:solidFill>
              </a:rPr>
              <a:t>LOC先讓彼此說得出差異，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3000" b="1">
                <a:solidFill>
                  <a:srgbClr val="F7F1E7"/>
                </a:solidFill>
              </a:defRPr>
            </a:pPr>
            <a:r>
              <a:rPr sz="3000" b="1">
                <a:solidFill>
                  <a:srgbClr val="F7F1E7"/>
                </a:solidFill>
              </a:rPr>
              <a:t>再決定要不要形成共同理解。</a:t>
            </a:r>
          </a:p>
        </p:txBody>
      </p:sp>
    </p:spTree>
    <p:extLst>
      <p:ext uri="{BB962C8B-B14F-4D97-AF65-F5344CB8AC3E}">
        <p14:creationId xmlns:p14="http://schemas.microsoft.com/office/powerpoint/2010/main" val="10817287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1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7A01AA-45D4-4980-AF0D-C4DF0DAF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48C1C6-B870-46A2-B8B7-A62F2C34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1">
                <a:solidFill>
                  <a:srgbClr val="D7B36A"/>
                </a:solidFill>
              </a:defRPr>
            </a:pPr>
            <a:r>
              <a:rPr sz="1650" b="1">
                <a:solidFill>
                  <a:srgbClr val="D7B36A"/>
                </a:solidFill>
              </a:rPr>
              <a:t>LOC · LUNA CODEX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EE8DC2-D9F1-4B99-BFC7-621F4ED8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53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500" b="0">
                <a:solidFill>
                  <a:srgbClr val="8997B8"/>
                </a:solidFill>
              </a:defRPr>
            </a:pPr>
            <a:r>
              <a:rPr sz="1500" b="0">
                <a:solidFill>
                  <a:srgbClr val="8997B8"/>
                </a:solidFill>
              </a:rPr>
              <a:t>03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0DE341-1F83-4A15-8077-64B1885D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BF2004-3EE8-4759-83F0-AFCEFA01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211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8997B8"/>
                </a:solidFill>
              </a:defRPr>
            </a:pPr>
            <a:r>
              <a:rPr sz="1350" b="0">
                <a:solidFill>
                  <a:srgbClr val="8997B8"/>
                </a:solidFill>
              </a:rPr>
              <a:t>秘藝文域 · EsotericVerse Studio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24576E-1773-4738-89EE-EFBB643E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21105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350" b="0">
                <a:solidFill>
                  <a:srgbClr val="8997B8"/>
                </a:solidFill>
              </a:defRPr>
            </a:pPr>
            <a:r>
              <a:rPr sz="1350" b="0">
                <a:solidFill>
                  <a:srgbClr val="8997B8"/>
                </a:solidFill>
              </a:rPr>
              <a:t>loc.lo3rwang.cc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01E0ED-29C2-43CD-B245-C373FA1C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915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F7F1E7"/>
                </a:solidFill>
              </a:defRPr>
            </a:pPr>
            <a:r>
              <a:rPr sz="4050" b="1">
                <a:solidFill>
                  <a:srgbClr val="F7F1E7"/>
                </a:solidFill>
              </a:rPr>
              <a:t>LOC提供一套共同的語意詞彙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558068-686D-4DDB-A93C-C8A8A41F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000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0" b="1">
                <a:solidFill>
                  <a:srgbClr val="A88BEF"/>
                </a:solidFill>
              </a:defRPr>
            </a:pPr>
            <a:r>
              <a:rPr sz="13500" b="1">
                <a:solidFill>
                  <a:srgbClr val="A88BEF"/>
                </a:solidFill>
              </a:rPr>
              <a:t>66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8B6840-160A-4AAC-983E-E3BD0111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238625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4200" b="1">
                <a:solidFill>
                  <a:srgbClr val="D7B36A"/>
                </a:solidFill>
              </a:defRPr>
            </a:pPr>
            <a:r>
              <a:rPr sz="4200" b="1">
                <a:solidFill>
                  <a:srgbClr val="D7B36A"/>
                </a:solidFill>
              </a:rPr>
              <a:t>符文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548228-8B8F-4F6F-9576-EA61650C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286375"/>
            <a:ext cx="4286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250" b="0">
                <a:solidFill>
                  <a:srgbClr val="C9D2E8"/>
                </a:solidFill>
              </a:defRPr>
            </a:pPr>
            <a:r>
              <a:rPr sz="2250" b="0">
                <a:solidFill>
                  <a:srgbClr val="C9D2E8"/>
                </a:solidFill>
              </a:rPr>
              <a:t>1–64 核心符文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250" b="0">
                <a:solidFill>
                  <a:srgbClr val="C9D2E8"/>
                </a:solidFill>
              </a:defRPr>
            </a:pPr>
            <a:r>
              <a:rPr sz="2250" b="0">
                <a:solidFill>
                  <a:srgbClr val="C9D2E8"/>
                </a:solidFill>
              </a:rPr>
              <a:t>65 玄 · Chaos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250" b="0">
                <a:solidFill>
                  <a:srgbClr val="C9D2E8"/>
                </a:solidFill>
              </a:defRPr>
            </a:pPr>
            <a:r>
              <a:rPr sz="2250" b="0">
                <a:solidFill>
                  <a:srgbClr val="C9D2E8"/>
                </a:solidFill>
              </a:rPr>
              <a:t>66 命 · Fate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40A853-76CB-409C-A1CB-040A1C74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48550"/>
            <a:ext cx="8915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F6B971-E91F-4859-AD14-5AE7B8F3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96250"/>
            <a:ext cx="8763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3000" b="1">
                <a:solidFill>
                  <a:srgbClr val="F7F1E7"/>
                </a:solidFill>
              </a:defRPr>
            </a:pPr>
            <a:r>
              <a:rPr sz="3000" b="1">
                <a:solidFill>
                  <a:srgbClr val="F7F1E7"/>
                </a:solidFill>
              </a:rPr>
              <a:t>單張符文是一個基本語意；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3000" b="1">
                <a:solidFill>
                  <a:srgbClr val="F7F1E7"/>
                </a:solidFill>
              </a:defRPr>
            </a:pPr>
            <a:r>
              <a:rPr sz="3000" b="1">
                <a:solidFill>
                  <a:srgbClr val="F7F1E7"/>
                </a:solidFill>
              </a:rPr>
              <a:t>組合、方向與脈絡，讓語意形成關係。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5A082D-0FDA-4DA3-BAE0-03353E219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0"/>
            <a:ext cx="876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100" b="0">
                <a:solidFill>
                  <a:srgbClr val="C9D2E8"/>
                </a:solidFill>
              </a:defRPr>
            </a:pPr>
            <a:r>
              <a:rPr sz="2100" b="0">
                <a:solidFill>
                  <a:srgbClr val="C9D2E8"/>
                </a:solidFill>
              </a:rPr>
              <a:t>它不替你宣告唯一答案，而是提供描述、比較與交流的方法。</a:t>
            </a:r>
          </a:p>
        </p:txBody>
      </p:sp>
    </p:spTree>
    <p:extLst>
      <p:ext uri="{BB962C8B-B14F-4D97-AF65-F5344CB8AC3E}">
        <p14:creationId xmlns:p14="http://schemas.microsoft.com/office/powerpoint/2010/main" val="17899802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1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4BEB29-E9CE-4061-81FE-FD471437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252546-1E77-4C6C-B3E8-DB8AB848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1">
                <a:solidFill>
                  <a:srgbClr val="D7B36A"/>
                </a:solidFill>
              </a:defRPr>
            </a:pPr>
            <a:r>
              <a:rPr sz="1650" b="1">
                <a:solidFill>
                  <a:srgbClr val="D7B36A"/>
                </a:solidFill>
              </a:rPr>
              <a:t>LOC · LUNA CODEX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B23B66-58B0-4E93-BA44-6DA41FE8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53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500" b="0">
                <a:solidFill>
                  <a:srgbClr val="8997B8"/>
                </a:solidFill>
              </a:defRPr>
            </a:pPr>
            <a:r>
              <a:rPr sz="1500" b="0">
                <a:solidFill>
                  <a:srgbClr val="8997B8"/>
                </a:solidFill>
              </a:rPr>
              <a:t>04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B18EC0-8EA9-41B5-A5EF-0AAF77A2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245895-C4EA-4BEA-B58F-B5FF476F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211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8997B8"/>
                </a:solidFill>
              </a:defRPr>
            </a:pPr>
            <a:r>
              <a:rPr sz="1350" b="0">
                <a:solidFill>
                  <a:srgbClr val="8997B8"/>
                </a:solidFill>
              </a:rPr>
              <a:t>秘藝文域 · EsotericVerse Studio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5A7A07-00A5-45FD-850E-02CF4B33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21105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350" b="0">
                <a:solidFill>
                  <a:srgbClr val="8997B8"/>
                </a:solidFill>
              </a:defRPr>
            </a:pPr>
            <a:r>
              <a:rPr sz="1350" b="0">
                <a:solidFill>
                  <a:srgbClr val="8997B8"/>
                </a:solidFill>
              </a:rPr>
              <a:t>loc.lo3rwang.cc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6743FA-0AFF-4C7C-B450-7819A21E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915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350" b="1">
                <a:solidFill>
                  <a:srgbClr val="F7F1E7"/>
                </a:solidFill>
              </a:defRPr>
            </a:pPr>
            <a:r>
              <a:rPr sz="4350" b="1">
                <a:solidFill>
                  <a:srgbClr val="F7F1E7"/>
                </a:solidFill>
              </a:rPr>
              <a:t>LOC怎麼運作？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12D275-2917-4016-8B54-00C82EEC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895350" cy="895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5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CCCB70-5335-4AE5-9A83-60E2313B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48025"/>
            <a:ext cx="895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875" b="1">
                <a:solidFill>
                  <a:srgbClr val="F7F1E7"/>
                </a:solidFill>
              </a:defRPr>
            </a:pPr>
            <a:r>
              <a:rPr sz="1875" b="1">
                <a:solidFill>
                  <a:srgbClr val="F7F1E7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1FD02C-9649-4BA0-804E-F58CCDCA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028950"/>
            <a:ext cx="571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>
                <a:solidFill>
                  <a:srgbClr val="F7F1E7"/>
                </a:solidFill>
              </a:defRPr>
            </a:pPr>
            <a:r>
              <a:rPr sz="2850" b="1">
                <a:solidFill>
                  <a:srgbClr val="F7F1E7"/>
                </a:solidFill>
              </a:rPr>
              <a:t>提出問題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7B4DCC-A85A-4062-AD25-0EFD6BB3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638550"/>
            <a:ext cx="723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0">
                <a:solidFill>
                  <a:srgbClr val="C9D2E8"/>
                </a:solidFill>
              </a:defRPr>
            </a:pPr>
            <a:r>
              <a:rPr sz="1950" b="0">
                <a:solidFill>
                  <a:srgbClr val="C9D2E8"/>
                </a:solidFill>
              </a:rPr>
              <a:t>把當下真正想理解的事情說出來。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BBA6A7-093D-4872-AA49-5BC29E31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038600"/>
            <a:ext cx="2857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B799F0-5CC9-4F78-867F-A7C62EC4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895350" cy="895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5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5D9574-6394-4EF5-ABE5-9FBC5DCC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00650"/>
            <a:ext cx="895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875" b="1">
                <a:solidFill>
                  <a:srgbClr val="F7F1E7"/>
                </a:solidFill>
              </a:defRPr>
            </a:pPr>
            <a:r>
              <a:rPr sz="1875" b="1">
                <a:solidFill>
                  <a:srgbClr val="F7F1E7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457A86-A017-4125-BAAF-F78DBE6A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981575"/>
            <a:ext cx="571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>
                <a:solidFill>
                  <a:srgbClr val="F7F1E7"/>
                </a:solidFill>
              </a:defRPr>
            </a:pPr>
            <a:r>
              <a:rPr sz="2850" b="1">
                <a:solidFill>
                  <a:srgbClr val="F7F1E7"/>
                </a:solidFill>
              </a:rPr>
              <a:t>用符文回答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F4A66C-D27F-4264-B024-D9AEE7E6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591175"/>
            <a:ext cx="723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0">
                <a:solidFill>
                  <a:srgbClr val="C9D2E8"/>
                </a:solidFill>
              </a:defRPr>
            </a:pPr>
            <a:r>
              <a:rPr sz="1950" b="0">
                <a:solidFill>
                  <a:srgbClr val="C9D2E8"/>
                </a:solidFill>
              </a:rPr>
              <a:t>抽取或選擇符文，建立自己的描述。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928386-0458-4690-AF2E-9DF515ED9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5991225"/>
            <a:ext cx="2857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CFD020-CE6B-4A1D-B4E8-B643D8CD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953250"/>
            <a:ext cx="895350" cy="895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5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0A669A-B329-489A-99C5-6D7D48E3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53275"/>
            <a:ext cx="895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875" b="1">
                <a:solidFill>
                  <a:srgbClr val="F7F1E7"/>
                </a:solidFill>
              </a:defRPr>
            </a:pPr>
            <a:r>
              <a:rPr sz="1875" b="1">
                <a:solidFill>
                  <a:srgbClr val="F7F1E7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6AF297-D119-4518-B728-FA2E850A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6934200"/>
            <a:ext cx="571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>
                <a:solidFill>
                  <a:srgbClr val="F7F1E7"/>
                </a:solidFill>
              </a:defRPr>
            </a:pPr>
            <a:r>
              <a:rPr sz="2850" b="1">
                <a:solidFill>
                  <a:srgbClr val="F7F1E7"/>
                </a:solidFill>
              </a:rPr>
              <a:t>答案彼此共振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AA19C0-597A-436E-9D44-36DB2DEE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7543800"/>
            <a:ext cx="723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0">
                <a:solidFill>
                  <a:srgbClr val="C9D2E8"/>
                </a:solidFill>
              </a:defRPr>
            </a:pPr>
            <a:r>
              <a:rPr sz="1950" b="0">
                <a:solidFill>
                  <a:srgbClr val="C9D2E8"/>
                </a:solidFill>
              </a:rPr>
              <a:t>比較不同人的理解、脈絡與選擇。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85B2CC-000A-4B6A-B5EE-3120C0FD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7943850"/>
            <a:ext cx="2857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4C8E4B-9207-4A59-A670-EED0E15F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905875"/>
            <a:ext cx="895350" cy="895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B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A4A09D-9626-42D8-A28B-19223718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05900"/>
            <a:ext cx="895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875" b="1">
                <a:solidFill>
                  <a:srgbClr val="06112C"/>
                </a:solidFill>
              </a:defRPr>
            </a:pPr>
            <a:r>
              <a:rPr sz="1875" b="1">
                <a:solidFill>
                  <a:srgbClr val="06112C"/>
                </a:solidFill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B6C48A-7135-46B9-8CE7-D8DB979B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8886825"/>
            <a:ext cx="571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>
                <a:solidFill>
                  <a:srgbClr val="F7F1E7"/>
                </a:solidFill>
              </a:defRPr>
            </a:pPr>
            <a:r>
              <a:rPr sz="2850" b="1">
                <a:solidFill>
                  <a:srgbClr val="F7F1E7"/>
                </a:solidFill>
              </a:rPr>
              <a:t>形成暫時理解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003795-A70E-4A76-9B9B-7AC18732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9496425"/>
            <a:ext cx="723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0">
                <a:solidFill>
                  <a:srgbClr val="C9D2E8"/>
                </a:solidFill>
              </a:defRPr>
            </a:pPr>
            <a:r>
              <a:rPr sz="1950" b="0">
                <a:solidFill>
                  <a:srgbClr val="C9D2E8"/>
                </a:solidFill>
              </a:rPr>
              <a:t>不是永久定論，而是此刻可以採取的方向。</a:t>
            </a:r>
          </a:p>
        </p:txBody>
      </p:sp>
    </p:spTree>
    <p:extLst>
      <p:ext uri="{BB962C8B-B14F-4D97-AF65-F5344CB8AC3E}">
        <p14:creationId xmlns:p14="http://schemas.microsoft.com/office/powerpoint/2010/main" val="4225362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1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C1A15C-1344-4573-A224-861B025C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F8ADF7-6F5D-40FF-9A17-06FE3F6C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1">
                <a:solidFill>
                  <a:srgbClr val="D7B36A"/>
                </a:solidFill>
              </a:defRPr>
            </a:pPr>
            <a:r>
              <a:rPr sz="1650" b="1">
                <a:solidFill>
                  <a:srgbClr val="D7B36A"/>
                </a:solidFill>
              </a:rPr>
              <a:t>LOC · LUNA CODEX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A6E3CD-AEC6-4A7B-AFC4-1A3F9A17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53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500" b="0">
                <a:solidFill>
                  <a:srgbClr val="8997B8"/>
                </a:solidFill>
              </a:defRPr>
            </a:pPr>
            <a:r>
              <a:rPr sz="1500" b="0">
                <a:solidFill>
                  <a:srgbClr val="8997B8"/>
                </a:solidFill>
              </a:rPr>
              <a:t>05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6A8AA3-4DC6-417C-BA15-293C0E1B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A55ACB-51C9-45E4-946C-E793BCA7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211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8997B8"/>
                </a:solidFill>
              </a:defRPr>
            </a:pPr>
            <a:r>
              <a:rPr sz="1350" b="0">
                <a:solidFill>
                  <a:srgbClr val="8997B8"/>
                </a:solidFill>
              </a:rPr>
              <a:t>秘藝文域 · EsotericVerse Studio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CD3475-5540-457D-9B6A-98A421B7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21105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350" b="0">
                <a:solidFill>
                  <a:srgbClr val="8997B8"/>
                </a:solidFill>
              </a:defRPr>
            </a:pPr>
            <a:r>
              <a:rPr sz="1350" b="0">
                <a:solidFill>
                  <a:srgbClr val="8997B8"/>
                </a:solidFill>
              </a:rPr>
              <a:t>loc.lo3rwang.cc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20E50F-458D-41DA-8E06-B280E59C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915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200" b="1">
                <a:solidFill>
                  <a:srgbClr val="F7F1E7"/>
                </a:solidFill>
              </a:defRPr>
            </a:pPr>
            <a:r>
              <a:rPr sz="4200" b="1">
                <a:solidFill>
                  <a:srgbClr val="F7F1E7"/>
                </a:solidFill>
              </a:rPr>
              <a:t>交流不是找出唯一正解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CC7E9E-71E3-48D4-B4C8-F6D42CDB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866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175" b="0">
                <a:solidFill>
                  <a:srgbClr val="C9D2E8"/>
                </a:solidFill>
              </a:defRPr>
            </a:pPr>
            <a:r>
              <a:rPr sz="2175" b="0">
                <a:solidFill>
                  <a:srgbClr val="C9D2E8"/>
                </a:solidFill>
              </a:rPr>
              <a:t>面對同一個事件，兩個人可以建立不同、但同樣成立的回答。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25F5DC-34DB-40F3-8B29-BDCB152E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361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250" b="1">
                <a:solidFill>
                  <a:srgbClr val="A88BEF"/>
                </a:solidFill>
              </a:defRPr>
            </a:pPr>
            <a:r>
              <a:rPr sz="2250" b="1">
                <a:solidFill>
                  <a:srgbClr val="A88BEF"/>
                </a:solidFill>
              </a:rPr>
              <a:t>我的回答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8A7577-7FFA-4B9C-82C2-6E5E4085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3905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2850" b="1">
                <a:solidFill>
                  <a:srgbClr val="F7F1E7"/>
                </a:solidFill>
              </a:defRPr>
            </a:pPr>
            <a:r>
              <a:rPr sz="2850" b="1">
                <a:solidFill>
                  <a:srgbClr val="F7F1E7"/>
                </a:solidFill>
              </a:rPr>
              <a:t>我現在需要先停下來，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2850" b="1">
                <a:solidFill>
                  <a:srgbClr val="F7F1E7"/>
                </a:solidFill>
              </a:defRPr>
            </a:pPr>
            <a:r>
              <a:rPr sz="2850" b="1">
                <a:solidFill>
                  <a:srgbClr val="F7F1E7"/>
                </a:solidFill>
              </a:rPr>
              <a:t>重新辨認自己的界線。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A5F9C2-C1FE-4FDE-BECE-CE948344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33875"/>
            <a:ext cx="3600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250" b="1">
                <a:solidFill>
                  <a:srgbClr val="D7B36A"/>
                </a:solidFill>
              </a:defRPr>
            </a:pPr>
            <a:r>
              <a:rPr sz="2250" b="1">
                <a:solidFill>
                  <a:srgbClr val="D7B36A"/>
                </a:solidFill>
              </a:rPr>
              <a:t>你的回答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C76A7B-F2FF-43EC-A444-97F0F613F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067300"/>
            <a:ext cx="36004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2850" b="1">
                <a:solidFill>
                  <a:srgbClr val="F7F1E7"/>
                </a:solidFill>
              </a:defRPr>
            </a:pPr>
            <a:r>
              <a:rPr sz="2850" b="1">
                <a:solidFill>
                  <a:srgbClr val="F7F1E7"/>
                </a:solidFill>
              </a:rPr>
              <a:t>我看到的是關係改變，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2850" b="1">
                <a:solidFill>
                  <a:srgbClr val="F7F1E7"/>
                </a:solidFill>
              </a:defRPr>
            </a:pPr>
            <a:r>
              <a:rPr sz="2850" b="1">
                <a:solidFill>
                  <a:srgbClr val="F7F1E7"/>
                </a:solidFill>
              </a:rPr>
              <a:t>需要重新建立連結。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416403-8D42-45E3-ACAB-4CFCC17F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33850"/>
            <a:ext cx="190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48C454-0EBE-4ABD-ADA7-EB022AB3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76771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3600" b="1">
                <a:solidFill>
                  <a:srgbClr val="91B9A2"/>
                </a:solidFill>
              </a:defRPr>
            </a:pPr>
            <a:r>
              <a:rPr sz="3600" b="1">
                <a:solidFill>
                  <a:srgbClr val="91B9A2"/>
                </a:solidFill>
              </a:rPr>
              <a:t>共振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45A2E3-36F6-4A53-A42F-EFC54740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705850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  <a:defRPr sz="2850" b="1">
                <a:solidFill>
                  <a:srgbClr val="F7F1E7"/>
                </a:solidFill>
              </a:defRPr>
            </a:pPr>
            <a:r>
              <a:rPr sz="2850" b="1">
                <a:solidFill>
                  <a:srgbClr val="F7F1E7"/>
                </a:solidFill>
              </a:rPr>
              <a:t>不是消滅差異，而是看見彼此如何理解同一件事。</a:t>
            </a:r>
          </a:p>
        </p:txBody>
      </p:sp>
    </p:spTree>
    <p:extLst>
      <p:ext uri="{BB962C8B-B14F-4D97-AF65-F5344CB8AC3E}">
        <p14:creationId xmlns:p14="http://schemas.microsoft.com/office/powerpoint/2010/main" val="3287023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1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F48138-D19D-4E6C-94F7-75E5B07B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624E2F-6105-4C92-9A7D-37E0DF3F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1">
                <a:solidFill>
                  <a:srgbClr val="D7B36A"/>
                </a:solidFill>
              </a:defRPr>
            </a:pPr>
            <a:r>
              <a:rPr sz="1650" b="1">
                <a:solidFill>
                  <a:srgbClr val="D7B36A"/>
                </a:solidFill>
              </a:rPr>
              <a:t>LOC · LUNA CODEX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77C37C-DA66-4D29-8557-547D1155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53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500" b="0">
                <a:solidFill>
                  <a:srgbClr val="8997B8"/>
                </a:solidFill>
              </a:defRPr>
            </a:pPr>
            <a:r>
              <a:rPr sz="1500" b="0">
                <a:solidFill>
                  <a:srgbClr val="8997B8"/>
                </a:solidFill>
              </a:rPr>
              <a:t>06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8BA36A-3847-496C-B3EC-A829F8BE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55E738-56BF-4E54-A11F-D6A1EB60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211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8997B8"/>
                </a:solidFill>
              </a:defRPr>
            </a:pPr>
            <a:r>
              <a:rPr sz="1350" b="0">
                <a:solidFill>
                  <a:srgbClr val="8997B8"/>
                </a:solidFill>
              </a:rPr>
              <a:t>秘藝文域 · EsotericVerse Studio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302E40-79C8-4A6A-AE1E-0EC86CB2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21105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350" b="0">
                <a:solidFill>
                  <a:srgbClr val="8997B8"/>
                </a:solidFill>
              </a:defRPr>
            </a:pPr>
            <a:r>
              <a:rPr sz="1350" b="0">
                <a:solidFill>
                  <a:srgbClr val="8997B8"/>
                </a:solidFill>
              </a:rPr>
              <a:t>loc.lo3rwang.cc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F9BDB8-5520-4E0C-BB2C-2F41392B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915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F7F1E7"/>
                </a:solidFill>
              </a:defRPr>
            </a:pPr>
            <a:r>
              <a:rPr sz="4050" b="1">
                <a:solidFill>
                  <a:srgbClr val="F7F1E7"/>
                </a:solidFill>
              </a:rPr>
              <a:t>同一套語言，能進入不同媒介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8D0BCB-3F69-4F46-8752-966E5E62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4050" b="1">
                <a:solidFill>
                  <a:srgbClr val="A88BEF"/>
                </a:solidFill>
              </a:defRPr>
            </a:pPr>
            <a:r>
              <a:rPr sz="4050" b="1">
                <a:solidFill>
                  <a:srgbClr val="A88BEF"/>
                </a:solidFill>
              </a:rPr>
              <a:t>理解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A8711B-275B-42A2-8D72-8B5A7742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00425"/>
            <a:ext cx="6000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250" b="0">
                <a:solidFill>
                  <a:srgbClr val="F7F1E7"/>
                </a:solidFill>
              </a:defRPr>
            </a:pPr>
            <a:r>
              <a:rPr sz="2250" b="0">
                <a:solidFill>
                  <a:srgbClr val="F7F1E7"/>
                </a:solidFill>
              </a:rPr>
              <a:t>抽牌、解讀、記錄當下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7F0B27-C854-4B2D-8D76-8F87A156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91000"/>
            <a:ext cx="600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F6CB04-A9B6-45F6-8DBC-950E816B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4050" b="1">
                <a:solidFill>
                  <a:srgbClr val="D7B36A"/>
                </a:solidFill>
              </a:defRPr>
            </a:pPr>
            <a:r>
              <a:rPr sz="4050" b="1">
                <a:solidFill>
                  <a:srgbClr val="D7B36A"/>
                </a:solidFill>
              </a:rPr>
              <a:t>遊玩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0DC9DA-0ECB-4EED-BF0D-D94049C4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62550"/>
            <a:ext cx="6000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250" b="0">
                <a:solidFill>
                  <a:srgbClr val="F7F1E7"/>
                </a:solidFill>
              </a:defRPr>
            </a:pPr>
            <a:r>
              <a:rPr sz="2250" b="0">
                <a:solidFill>
                  <a:srgbClr val="F7F1E7"/>
                </a:solidFill>
              </a:rPr>
              <a:t>用事件與符文交換回答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7360B4-9963-41A9-A683-560DE631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953125"/>
            <a:ext cx="600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91EEC9-8323-41C1-A1DD-08B6919D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10375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4050" b="1">
                <a:solidFill>
                  <a:srgbClr val="91B9A2"/>
                </a:solidFill>
              </a:defRPr>
            </a:pPr>
            <a:r>
              <a:rPr sz="4050" b="1">
                <a:solidFill>
                  <a:srgbClr val="91B9A2"/>
                </a:solidFill>
              </a:rPr>
              <a:t>創作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A2146E-A12A-4C0C-8EC7-BD346461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924675"/>
            <a:ext cx="6000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250" b="0">
                <a:solidFill>
                  <a:srgbClr val="F7F1E7"/>
                </a:solidFill>
              </a:defRPr>
            </a:pPr>
            <a:r>
              <a:rPr sz="2250" b="0">
                <a:solidFill>
                  <a:srgbClr val="F7F1E7"/>
                </a:solidFill>
              </a:rPr>
              <a:t>轉化為歌曲、小說、圖像與MV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FCABAE-19CC-4246-8006-CC53872A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7715250"/>
            <a:ext cx="600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FDED70-5159-4E89-93BF-0837FAF3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4050" b="1">
                <a:solidFill>
                  <a:srgbClr val="A88BEF"/>
                </a:solidFill>
              </a:defRPr>
            </a:pPr>
            <a:r>
              <a:rPr sz="4050" b="1">
                <a:solidFill>
                  <a:srgbClr val="A88BEF"/>
                </a:solidFill>
              </a:rPr>
              <a:t>治理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261571-1185-4948-A2E5-75EFFB44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8686800"/>
            <a:ext cx="6000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250" b="0">
                <a:solidFill>
                  <a:srgbClr val="F7F1E7"/>
                </a:solidFill>
              </a:defRPr>
            </a:pPr>
            <a:r>
              <a:rPr sz="2250" b="0">
                <a:solidFill>
                  <a:srgbClr val="F7F1E7"/>
                </a:solidFill>
              </a:rPr>
              <a:t>整理價值觀、語句與回應方式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AB6664-35A2-46AE-B312-F4E05C7C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477375"/>
            <a:ext cx="600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349498-DD0F-465B-AA9D-F4836F41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250" b="1">
                <a:solidFill>
                  <a:srgbClr val="C9D2E8"/>
                </a:solidFill>
              </a:defRPr>
            </a:pPr>
            <a:r>
              <a:rPr sz="2250" b="1">
                <a:solidFill>
                  <a:srgbClr val="C9D2E8"/>
                </a:solidFill>
              </a:rPr>
              <a:t>作品不是目錄，而是這套語言能被實際使用的證明。</a:t>
            </a:r>
          </a:p>
        </p:txBody>
      </p:sp>
    </p:spTree>
    <p:extLst>
      <p:ext uri="{BB962C8B-B14F-4D97-AF65-F5344CB8AC3E}">
        <p14:creationId xmlns:p14="http://schemas.microsoft.com/office/powerpoint/2010/main" val="9071079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11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A44A66-9AFE-4EC0-A9BE-7FF71D93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F5F586-2A72-43D8-B081-8FCC7429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1">
                <a:solidFill>
                  <a:srgbClr val="D7B36A"/>
                </a:solidFill>
              </a:defRPr>
            </a:pPr>
            <a:r>
              <a:rPr sz="1650" b="1">
                <a:solidFill>
                  <a:srgbClr val="D7B36A"/>
                </a:solidFill>
              </a:rPr>
              <a:t>LOC · LUNA CODEX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14607E-3DC4-4325-9D84-68504AEC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53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500" b="0">
                <a:solidFill>
                  <a:srgbClr val="8997B8"/>
                </a:solidFill>
              </a:defRPr>
            </a:pPr>
            <a:r>
              <a:rPr sz="1500" b="0">
                <a:solidFill>
                  <a:srgbClr val="8997B8"/>
                </a:solidFill>
              </a:rPr>
              <a:t>07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B5391A-751D-4D70-BB4C-5B855EF7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F9945A-06FD-41F7-B2BD-3461BC01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211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8997B8"/>
                </a:solidFill>
              </a:defRPr>
            </a:pPr>
            <a:r>
              <a:rPr sz="1350" b="0">
                <a:solidFill>
                  <a:srgbClr val="8997B8"/>
                </a:solidFill>
              </a:rPr>
              <a:t>秘藝文域 · EsotericVerse Studio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4B586F-C45F-4FCC-8920-3C0DA517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21105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350" b="0">
                <a:solidFill>
                  <a:srgbClr val="8997B8"/>
                </a:solidFill>
              </a:defRPr>
            </a:pPr>
            <a:r>
              <a:rPr sz="1350" b="0">
                <a:solidFill>
                  <a:srgbClr val="8997B8"/>
                </a:solidFill>
              </a:rPr>
              <a:t>loc.lo3rwang.cc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AD4479-F91F-4FF9-88F8-DEA6940F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9154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900" b="1">
                <a:solidFill>
                  <a:srgbClr val="F7F1E7"/>
                </a:solidFill>
              </a:defRPr>
            </a:pPr>
            <a:r>
              <a:rPr sz="3900" b="1">
                <a:solidFill>
                  <a:srgbClr val="F7F1E7"/>
                </a:solidFill>
              </a:rPr>
              <a:t>每天的抽取，會累積成一週的語意趨勢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EFB92B-973E-4F4F-902D-38D45E82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8667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175" b="0">
                <a:solidFill>
                  <a:srgbClr val="C9D2E8"/>
                </a:solidFill>
              </a:defRPr>
            </a:pPr>
            <a:r>
              <a:rPr sz="2175" b="0">
                <a:solidFill>
                  <a:srgbClr val="C9D2E8"/>
                </a:solidFill>
              </a:rPr>
              <a:t>LOC不只解讀單日結果，也觀察語意如何持續、轉折與收斂。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8E1169-8BB0-42CB-912A-408565A0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991350"/>
            <a:ext cx="3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EB72C0-57F7-4F0A-AE94-C18C4400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341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5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CE3EB8-C38A-41DF-AD23-0C812FF7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766762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650" b="1">
                <a:solidFill>
                  <a:srgbClr val="8997B8"/>
                </a:solidFill>
              </a:defRPr>
            </a:pPr>
            <a:r>
              <a:rPr sz="1650" b="1">
                <a:solidFill>
                  <a:srgbClr val="8997B8"/>
                </a:solidFill>
              </a:rPr>
              <a:t>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693834-AE76-47AC-AF74-55D3F7FA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6467475"/>
            <a:ext cx="3810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B8EF76-15B4-434D-B0CB-1177D61E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6010275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5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5AE981-24C3-4A3B-B4BC-901C4C16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766762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650" b="1">
                <a:solidFill>
                  <a:srgbClr val="8997B8"/>
                </a:solidFill>
              </a:defRPr>
            </a:pPr>
            <a:r>
              <a:rPr sz="1650" b="1">
                <a:solidFill>
                  <a:srgbClr val="8997B8"/>
                </a:solidFill>
              </a:rPr>
              <a:t>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0C75F5-2321-4F9F-BCA6-E8E2679E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6848475"/>
            <a:ext cx="381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7C75DD-3D0C-4998-B06C-23D7FD76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6391275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5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875464-840A-4793-813B-71034C89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766762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650" b="1">
                <a:solidFill>
                  <a:srgbClr val="8997B8"/>
                </a:solidFill>
              </a:defRPr>
            </a:pPr>
            <a:r>
              <a:rPr sz="1650" b="1">
                <a:solidFill>
                  <a:srgbClr val="8997B8"/>
                </a:solidFill>
              </a:rPr>
              <a:t>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B6AB11-E860-4C64-AFE5-29062604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514975"/>
            <a:ext cx="38100" cy="1914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9AB5A5-B6A9-4512-8ED4-50B4D24C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057775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5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5F1166-9DA5-4131-93C8-9476D8FC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766762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650" b="1">
                <a:solidFill>
                  <a:srgbClr val="8997B8"/>
                </a:solidFill>
              </a:defRPr>
            </a:pPr>
            <a:r>
              <a:rPr sz="1650" b="1">
                <a:solidFill>
                  <a:srgbClr val="8997B8"/>
                </a:solidFill>
              </a:rPr>
              <a:t>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F407DD-5361-41C6-AB40-B065A58D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86350"/>
            <a:ext cx="381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CAFD9B-4BFC-47BA-B3E5-76857077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291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5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DBD9E0-2D57-429E-8C43-3BD12E1F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766762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650" b="1">
                <a:solidFill>
                  <a:srgbClr val="8997B8"/>
                </a:solidFill>
              </a:defRPr>
            </a:pPr>
            <a:r>
              <a:rPr sz="1650" b="1">
                <a:solidFill>
                  <a:srgbClr val="8997B8"/>
                </a:solidFill>
              </a:rPr>
              <a:t>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40F26F-290A-4026-B822-C7FB997E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29100"/>
            <a:ext cx="381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84D6AB-72A7-4B88-9159-1DFBD0F3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7719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5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FBDD62-3691-4C91-AB48-EB4CF8A7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766762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650" b="1">
                <a:solidFill>
                  <a:srgbClr val="8997B8"/>
                </a:solidFill>
              </a:defRPr>
            </a:pPr>
            <a:r>
              <a:rPr sz="1650" b="1">
                <a:solidFill>
                  <a:srgbClr val="8997B8"/>
                </a:solidFill>
              </a:rPr>
              <a:t>六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1AC23A-D921-43B9-9162-7D5AB8EE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562475"/>
            <a:ext cx="38100" cy="2867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247D4B-56F6-42B7-A8F8-5F6D43B6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105275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B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38C052-F81F-418B-8A68-7E5A9F35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766762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650" b="1">
                <a:solidFill>
                  <a:srgbClr val="8997B8"/>
                </a:solidFill>
              </a:defRPr>
            </a:pPr>
            <a:r>
              <a:rPr sz="1650" b="1">
                <a:solidFill>
                  <a:srgbClr val="8997B8"/>
                </a:solidFill>
              </a:rPr>
              <a:t>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03150C-B159-4D7D-904D-D1038186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0"/>
            <a:ext cx="857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150" b="1">
                <a:solidFill>
                  <a:srgbClr val="F7F1E7"/>
                </a:solidFill>
              </a:defRPr>
            </a:pPr>
            <a:r>
              <a:rPr sz="3150" b="1">
                <a:solidFill>
                  <a:srgbClr val="F7F1E7"/>
                </a:solidFill>
              </a:rPr>
              <a:t>本週的主題正在往哪裡移動？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353503-91E4-4D5B-B458-A0CD31EB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67875"/>
            <a:ext cx="876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C9D2E8"/>
                </a:solidFill>
              </a:defRPr>
            </a:pPr>
            <a:r>
              <a:rPr sz="2100" b="0">
                <a:solidFill>
                  <a:srgbClr val="C9D2E8"/>
                </a:solidFill>
              </a:rPr>
              <a:t>LOC7建立跨內容的關係；LOC8把每日紀錄轉化為可閱讀的一週與長期趨勢。</a:t>
            </a:r>
          </a:p>
        </p:txBody>
      </p:sp>
    </p:spTree>
    <p:extLst>
      <p:ext uri="{BB962C8B-B14F-4D97-AF65-F5344CB8AC3E}">
        <p14:creationId xmlns:p14="http://schemas.microsoft.com/office/powerpoint/2010/main" val="17296300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1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3EAEEB-FF42-4C22-BA02-31D98B12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A6787F-3BD1-4DFA-AF3B-3F1113BA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1">
                <a:solidFill>
                  <a:srgbClr val="D7B36A"/>
                </a:solidFill>
              </a:defRPr>
            </a:pPr>
            <a:r>
              <a:rPr sz="1650" b="1">
                <a:solidFill>
                  <a:srgbClr val="D7B36A"/>
                </a:solidFill>
              </a:rPr>
              <a:t>LOC · 從一個問題開始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BED5C4-852F-471B-8D3B-A14A2A74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53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500" b="0">
                <a:solidFill>
                  <a:srgbClr val="8997B8"/>
                </a:solidFill>
              </a:defRPr>
            </a:pPr>
            <a:r>
              <a:rPr sz="1500" b="0">
                <a:solidFill>
                  <a:srgbClr val="8997B8"/>
                </a:solidFill>
              </a:rPr>
              <a:t>08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2BDF5A-A515-4475-9AC0-BFC6D6BA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4B8841-3E30-4295-BC0B-42B0858B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211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8997B8"/>
                </a:solidFill>
              </a:defRPr>
            </a:pPr>
            <a:r>
              <a:rPr sz="1350" b="0">
                <a:solidFill>
                  <a:srgbClr val="8997B8"/>
                </a:solidFill>
              </a:rPr>
              <a:t>秘藝文域 · EsotericVerse Studio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A3DE38-7387-46A2-B50B-48A0710A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21105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350" b="0">
                <a:solidFill>
                  <a:srgbClr val="8997B8"/>
                </a:solidFill>
              </a:defRPr>
            </a:pPr>
            <a:r>
              <a:rPr sz="1350" b="0">
                <a:solidFill>
                  <a:srgbClr val="8997B8"/>
                </a:solidFill>
              </a:rPr>
              <a:t>loc.lo3rwang.cc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E41E59-16A2-4B2A-AA6A-6FEFA647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915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350" b="1">
                <a:solidFill>
                  <a:srgbClr val="F7F1E7"/>
                </a:solidFill>
              </a:defRPr>
            </a:pPr>
            <a:r>
              <a:rPr sz="4350" b="1">
                <a:solidFill>
                  <a:srgbClr val="F7F1E7"/>
                </a:solidFill>
              </a:rPr>
              <a:t>現在，就可以開始交流。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45285A-C3D2-4AD3-A949-3E896602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876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100" b="0">
                <a:solidFill>
                  <a:srgbClr val="C9D2E8"/>
                </a:solidFill>
              </a:defRPr>
            </a:pPr>
            <a:r>
              <a:rPr sz="2100" b="0">
                <a:solidFill>
                  <a:srgbClr val="C9D2E8"/>
                </a:solidFill>
              </a:rPr>
              <a:t>LOC已經能被拿在手上、在線使用，也正在走向多人交流。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F6F1D7-4BE6-4D37-907C-B70A4DA0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43350"/>
            <a:ext cx="1390650" cy="1390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B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2A4D16-0A90-445D-B7EF-122DEEB7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3182" y="3873818"/>
            <a:ext cx="1390650" cy="1390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11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4D3AAD-C10D-445D-A106-1BDCA19F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900" b="1">
                <a:solidFill>
                  <a:srgbClr val="A88BEF"/>
                </a:solidFill>
              </a:defRPr>
            </a:pPr>
            <a:r>
              <a:rPr sz="3900" b="1">
                <a:solidFill>
                  <a:srgbClr val="A88BEF"/>
                </a:solidFill>
              </a:rPr>
              <a:t>實體符文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83C638-45A0-47FF-BF0C-6E11F31D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67325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900" b="1">
                <a:solidFill>
                  <a:srgbClr val="D7B36A"/>
                </a:solidFill>
              </a:defRPr>
            </a:pPr>
            <a:r>
              <a:rPr sz="3900" b="1">
                <a:solidFill>
                  <a:srgbClr val="D7B36A"/>
                </a:solidFill>
              </a:rPr>
              <a:t>可下載列印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D8E7D3-5C18-4314-9C8B-B3020348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552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900" b="1">
                <a:solidFill>
                  <a:srgbClr val="91B9A2"/>
                </a:solidFill>
              </a:defRPr>
            </a:pPr>
            <a:r>
              <a:rPr sz="3900" b="1">
                <a:solidFill>
                  <a:srgbClr val="91B9A2"/>
                </a:solidFill>
              </a:rPr>
              <a:t>PWA每日抽取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8EB357-99EF-4B74-A1F8-F4B8985D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58075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900" b="1">
                <a:solidFill>
                  <a:srgbClr val="A88BEF"/>
                </a:solidFill>
              </a:defRPr>
            </a:pPr>
            <a:r>
              <a:rPr sz="3900" b="1">
                <a:solidFill>
                  <a:srgbClr val="A88BEF"/>
                </a:solidFill>
              </a:rPr>
              <a:t>LOC2 Alpha試玩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25F9A8-EB80-4F11-8E73-4BB8628D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86800"/>
            <a:ext cx="8915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AAEB8D-C810-44C6-AB81-45D8AA34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277350"/>
            <a:ext cx="857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000" b="1">
                <a:solidFill>
                  <a:srgbClr val="F7F1E7"/>
                </a:solidFill>
              </a:defRPr>
            </a:pPr>
            <a:r>
              <a:rPr sz="3000" b="1">
                <a:solidFill>
                  <a:srgbClr val="F7F1E7"/>
                </a:solidFill>
              </a:rPr>
              <a:t>提出一個你真正想理解的問題。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3000" b="1">
                <a:solidFill>
                  <a:srgbClr val="F7F1E7"/>
                </a:solidFill>
              </a:defRPr>
            </a:pPr>
            <a:r>
              <a:rPr sz="3000" b="1">
                <a:solidFill>
                  <a:srgbClr val="F7F1E7"/>
                </a:solidFill>
              </a:rPr>
              <a:t>抽一張牌，說出你的回答。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105195-9187-4901-8128-B7B898B8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A88BEF"/>
                </a:solidFill>
              </a:defRPr>
            </a:pPr>
            <a:r>
              <a:rPr sz="1800" b="0">
                <a:solidFill>
                  <a:srgbClr val="A88BEF"/>
                </a:solidFill>
              </a:rPr>
              <a:t>LOC｜月典　loc.lo3rwang.cc　@lo3rwang</a:t>
            </a:r>
          </a:p>
        </p:txBody>
      </p:sp>
    </p:spTree>
    <p:extLst>
      <p:ext uri="{BB962C8B-B14F-4D97-AF65-F5344CB8AC3E}">
        <p14:creationId xmlns:p14="http://schemas.microsoft.com/office/powerpoint/2010/main" val="185376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2026-09-02T16:43:33.1490000Z</dcterms:created>
  <dcterms:modified xsi:type="dcterms:W3CDTF">2026-09-02T16:43:33.1490000Z</dcterms:modified>
</coreProperties>
</file>