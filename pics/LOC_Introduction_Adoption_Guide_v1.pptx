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a0c8777131402e" /><Relationship Type="http://schemas.openxmlformats.org/officeDocument/2006/relationships/extended-properties" Target="/docProps/app.xml" Id="R0818e540c4844d49" /><Relationship Type="http://schemas.openxmlformats.org/officeDocument/2006/relationships/officeDocument" Target="/ppt/presentation.xml" Id="R34991be9f8d842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23049d7f3d41c9"/>
  </p:sldMasterIdLst>
  <p:notesMasterIdLst>
    <p:notesMasterId xmlns:r="http://schemas.openxmlformats.org/officeDocument/2006/relationships" r:id="R3d6d43aca40741f0"/>
  </p:notesMasterIdLst>
  <p:sldIdLst>
    <p:sldId xmlns:r="http://schemas.openxmlformats.org/officeDocument/2006/relationships" id="256" r:id="Re78014160dd842b9"/>
    <p:sldId xmlns:r="http://schemas.openxmlformats.org/officeDocument/2006/relationships" id="257" r:id="R7974ca2bc10e40b2"/>
    <p:sldId xmlns:r="http://schemas.openxmlformats.org/officeDocument/2006/relationships" id="258" r:id="Rf5540c6a48104428"/>
    <p:sldId xmlns:r="http://schemas.openxmlformats.org/officeDocument/2006/relationships" id="259" r:id="Rec2fcbc0f5a34173"/>
    <p:sldId xmlns:r="http://schemas.openxmlformats.org/officeDocument/2006/relationships" id="260" r:id="R8e4ddd1fcd9b4b5f"/>
    <p:sldId xmlns:r="http://schemas.openxmlformats.org/officeDocument/2006/relationships" id="261" r:id="Rba841543d2fd473e"/>
    <p:sldId xmlns:r="http://schemas.openxmlformats.org/officeDocument/2006/relationships" id="262" r:id="Rcf2cd94f509d409c"/>
    <p:sldId xmlns:r="http://schemas.openxmlformats.org/officeDocument/2006/relationships" id="263" r:id="R177d25bf90484d02"/>
    <p:sldId xmlns:r="http://schemas.openxmlformats.org/officeDocument/2006/relationships" id="264" r:id="R20a54d3a33584468"/>
    <p:sldId xmlns:r="http://schemas.openxmlformats.org/officeDocument/2006/relationships" id="265" r:id="Rf2fd17c7d61d4d9b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fc1cc8d3f5425a" /><Relationship Type="http://schemas.openxmlformats.org/officeDocument/2006/relationships/slideMaster" Target="/ppt/slideMasters/slideMaster1.xml" Id="R0f23049d7f3d41c9" /><Relationship Type="http://schemas.openxmlformats.org/officeDocument/2006/relationships/notesMaster" Target="/ppt/notesMasters/notesMaster1.xml" Id="R3d6d43aca40741f0" /><Relationship Type="http://schemas.openxmlformats.org/officeDocument/2006/relationships/presProps" Target="/ppt/presProps.xml" Id="R23ced581c74642e2" /><Relationship Type="http://schemas.openxmlformats.org/officeDocument/2006/relationships/tableStyles" Target="/ppt/tableStyles.xml" Id="R2358b7732fc54fe0" /><Relationship Type="http://schemas.openxmlformats.org/officeDocument/2006/relationships/slide" Target="/ppt/slides/slide1.xml" Id="Re78014160dd842b9" /><Relationship Type="http://schemas.openxmlformats.org/officeDocument/2006/relationships/slide" Target="/ppt/slides/slide2.xml" Id="R7974ca2bc10e40b2" /><Relationship Type="http://schemas.openxmlformats.org/officeDocument/2006/relationships/slide" Target="/ppt/slides/slide3.xml" Id="Rf5540c6a48104428" /><Relationship Type="http://schemas.openxmlformats.org/officeDocument/2006/relationships/slide" Target="/ppt/slides/slide4.xml" Id="Rec2fcbc0f5a34173" /><Relationship Type="http://schemas.openxmlformats.org/officeDocument/2006/relationships/slide" Target="/ppt/slides/slide5.xml" Id="R8e4ddd1fcd9b4b5f" /><Relationship Type="http://schemas.openxmlformats.org/officeDocument/2006/relationships/slide" Target="/ppt/slides/slide6.xml" Id="Rba841543d2fd473e" /><Relationship Type="http://schemas.openxmlformats.org/officeDocument/2006/relationships/slide" Target="/ppt/slides/slide7.xml" Id="Rcf2cd94f509d409c" /><Relationship Type="http://schemas.openxmlformats.org/officeDocument/2006/relationships/slide" Target="/ppt/slides/slide8.xml" Id="R177d25bf90484d02" /><Relationship Type="http://schemas.openxmlformats.org/officeDocument/2006/relationships/slide" Target="/ppt/slides/slide9.xml" Id="R20a54d3a33584468" /><Relationship Type="http://schemas.openxmlformats.org/officeDocument/2006/relationships/slide" Target="/ppt/slides/slide10.xml" Id="Rf2fd17c7d61d4d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a3d391b95547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a64f5c65134fa7" /><Relationship Type="http://schemas.openxmlformats.org/officeDocument/2006/relationships/notesMaster" Target="/ppt/notesMasters/notesMaster1.xml" Id="R69e32fa6e4a240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61894ec31e46d9" /><Relationship Type="http://schemas.openxmlformats.org/officeDocument/2006/relationships/notesMaster" Target="/ppt/notesMasters/notesMaster1.xml" Id="R19207e8d04fc4b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b403a51b0f452e" /><Relationship Type="http://schemas.openxmlformats.org/officeDocument/2006/relationships/notesMaster" Target="/ppt/notesMasters/notesMaster1.xml" Id="R5944027a7e0a45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eac43a162b44f2" /><Relationship Type="http://schemas.openxmlformats.org/officeDocument/2006/relationships/notesMaster" Target="/ppt/notesMasters/notesMaster1.xml" Id="R6e9f66be754d43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2ffedd4f074b06" /><Relationship Type="http://schemas.openxmlformats.org/officeDocument/2006/relationships/notesMaster" Target="/ppt/notesMasters/notesMaster1.xml" Id="R2829a3259db942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35c5eead6c48dd" /><Relationship Type="http://schemas.openxmlformats.org/officeDocument/2006/relationships/notesMaster" Target="/ppt/notesMasters/notesMaster1.xml" Id="Rf93556c2c7934c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bed5c00e9a4468" /><Relationship Type="http://schemas.openxmlformats.org/officeDocument/2006/relationships/notesMaster" Target="/ppt/notesMasters/notesMaster1.xml" Id="R622521f965484a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a4fd7b7edf455a" /><Relationship Type="http://schemas.openxmlformats.org/officeDocument/2006/relationships/notesMaster" Target="/ppt/notesMasters/notesMaster1.xml" Id="Rfb13c670cede48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931d840afd4050" /><Relationship Type="http://schemas.openxmlformats.org/officeDocument/2006/relationships/notesMaster" Target="/ppt/notesMasters/notesMaster1.xml" Id="Rd8c8f966275846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28b42675194e5c" /><Relationship Type="http://schemas.openxmlformats.org/officeDocument/2006/relationships/notesMaster" Target="/ppt/notesMasters/notesMaster1.xml" Id="Rca791b594ce144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https://loc.lo3rwang.cc/</a:t>
            </a:r>
          </a:p>
          <a:p xmlns:a="http://schemas.openxmlformats.org/drawingml/2006/main">
            <a:r>
              <a:t>- https://github.com/EsotericVerse/moon-runes-pwa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6f4ef45824a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1fdf44c862415d" /><Relationship Type="http://schemas.openxmlformats.org/officeDocument/2006/relationships/slideLayout" Target="/ppt/slideLayouts/slideLayout1.xml" Id="R2cf85771ee8c41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f85771ee8c41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6b224b40d4f41" /><Relationship Type="http://schemas.openxmlformats.org/officeDocument/2006/relationships/notesSlide" Target="/ppt/notesSlides/notesSlide1.xml" Id="R1a2a0e6ee88b41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bed51bd8a417b" /><Relationship Type="http://schemas.openxmlformats.org/officeDocument/2006/relationships/notesSlide" Target="/ppt/notesSlides/notesSlide2.xml" Id="R1e0d53c9f0c747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fb7032b4b4ccd" /><Relationship Type="http://schemas.openxmlformats.org/officeDocument/2006/relationships/notesSlide" Target="/ppt/notesSlides/notesSlide3.xml" Id="R25fbde3992e642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fd9a87107417f" /><Relationship Type="http://schemas.openxmlformats.org/officeDocument/2006/relationships/notesSlide" Target="/ppt/notesSlides/notesSlide4.xml" Id="R0229c763dfc94c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04faee72948ee" /><Relationship Type="http://schemas.openxmlformats.org/officeDocument/2006/relationships/notesSlide" Target="/ppt/notesSlides/notesSlide5.xml" Id="Rcb5bf57e9fa147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4ae7135e04ac8" /><Relationship Type="http://schemas.openxmlformats.org/officeDocument/2006/relationships/notesSlide" Target="/ppt/notesSlides/notesSlide6.xml" Id="Rc15929993c6843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045118527411f" /><Relationship Type="http://schemas.openxmlformats.org/officeDocument/2006/relationships/notesSlide" Target="/ppt/notesSlides/notesSlide7.xml" Id="R60925065c48449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9ec5a9ac34ec3" /><Relationship Type="http://schemas.openxmlformats.org/officeDocument/2006/relationships/notesSlide" Target="/ppt/notesSlides/notesSlide8.xml" Id="R67cef4aa0b134d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7edbc011a4f19" /><Relationship Type="http://schemas.openxmlformats.org/officeDocument/2006/relationships/notesSlide" Target="/ppt/notesSlides/notesSlide9.xml" Id="R0e3c5360bb514b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daa17f0734a33" /><Relationship Type="http://schemas.openxmlformats.org/officeDocument/2006/relationships/notesSlide" Target="/ppt/notesSlides/notesSlide10.xml" Id="R1f24dff88a6143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15074-FA96-4A4F-ABEC-E8857E45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D9BFE-8A3B-4B1A-8458-39FBD53B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D7B36A"/>
                </a:solidFill>
              </a:defRPr>
            </a:pPr>
            <a:r>
              <a:rPr sz="1575" b="1">
                <a:solidFill>
                  <a:srgbClr val="D7B36A"/>
                </a:solidFill>
              </a:rPr>
              <a:t>LOC · LUNA CODEX · 月典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BACE1-9CAF-4D86-9BFD-1C408D5D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01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A900D-B9E6-4ECB-8DD9-4B06770C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FBC22-BA23-4F70-A435-E25F9EE6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348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1957A-2E14-4B7E-AE90-A4C59B12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1348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28C34-3D03-4088-AA93-BB9BCB9C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95450"/>
            <a:ext cx="16192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3E679-F68C-4AEE-8605-319F8307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0983" y="1614488"/>
            <a:ext cx="161925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11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A59FC-827B-44FF-98AD-AF8D26D8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7200" b="1">
                <a:solidFill>
                  <a:srgbClr val="A88BEF"/>
                </a:solidFill>
              </a:defRPr>
            </a:pPr>
            <a:r>
              <a:rPr sz="7200" b="1">
                <a:solidFill>
                  <a:srgbClr val="A88BEF"/>
                </a:solidFill>
              </a:rPr>
              <a:t>LOC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97776-7BB9-4B5E-8A74-52FFD131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D7B36A"/>
                </a:solidFill>
              </a:defRPr>
            </a:pPr>
            <a:r>
              <a:rPr sz="2400" b="1">
                <a:solidFill>
                  <a:srgbClr val="D7B36A"/>
                </a:solidFill>
              </a:rPr>
              <a:t>第一次使用指南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FD79B-7097-4026-8BE3-0A7E8F1E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76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4200" b="1">
                <a:solidFill>
                  <a:srgbClr val="F7F1E7"/>
                </a:solidFill>
              </a:defRPr>
            </a:pPr>
            <a:r>
              <a:rPr sz="4200" b="1">
                <a:solidFill>
                  <a:srgbClr val="F7F1E7"/>
                </a:solidFill>
              </a:rPr>
              <a:t>把問題轉成可以理解、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4200" b="1">
                <a:solidFill>
                  <a:srgbClr val="F7F1E7"/>
                </a:solidFill>
              </a:defRPr>
            </a:pPr>
            <a:r>
              <a:rPr sz="4200" b="1">
                <a:solidFill>
                  <a:srgbClr val="F7F1E7"/>
                </a:solidFill>
              </a:rPr>
              <a:t>可以交流，也可以繼續使用的語言。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AF778-E61C-43AE-A180-904045BA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BB4D2-4F2C-4C09-8C61-638D8038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0"/>
            <a:ext cx="8477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550" b="0">
                <a:solidFill>
                  <a:srgbClr val="C9D2E8"/>
                </a:solidFill>
              </a:defRPr>
            </a:pPr>
            <a:r>
              <a:rPr sz="2550" b="0">
                <a:solidFill>
                  <a:srgbClr val="C9D2E8"/>
                </a:solidFill>
              </a:rPr>
              <a:t>不需要先背完66符文。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550" b="0">
                <a:solidFill>
                  <a:srgbClr val="C9D2E8"/>
                </a:solidFill>
              </a:defRPr>
            </a:pPr>
            <a:r>
              <a:rPr sz="2550" b="0">
                <a:solidFill>
                  <a:srgbClr val="C9D2E8"/>
                </a:solidFill>
              </a:rPr>
              <a:t>你只需要帶來一個真正想理解的問題。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ACFD0-DED4-40FA-A94C-9CD4C61C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06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7F1E7"/>
                </a:solidFill>
              </a:defRPr>
            </a:pPr>
            <a:r>
              <a:rPr sz="1950" b="1">
                <a:solidFill>
                  <a:srgbClr val="F7F1E7"/>
                </a:solidFill>
              </a:rPr>
              <a:t>Lucas Oscar Wang 政德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16AB5-4F8B-4DD8-9A0B-956F9F10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061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Language Systems Governance Architect · Wordsmith · Moon Resonator</a:t>
            </a:r>
          </a:p>
        </p:txBody>
      </p:sp>
    </p:spTree>
    <p:extLst>
      <p:ext uri="{BB962C8B-B14F-4D97-AF65-F5344CB8AC3E}">
        <p14:creationId xmlns:p14="http://schemas.microsoft.com/office/powerpoint/2010/main" val="17225482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FFA656-8ABF-4137-8110-4E9424C5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5F70C-3E77-47DA-9950-38BE0BB1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D7B36A"/>
                </a:solidFill>
              </a:defRPr>
            </a:pPr>
            <a:r>
              <a:rPr sz="1575" b="1">
                <a:solidFill>
                  <a:srgbClr val="D7B36A"/>
                </a:solidFill>
              </a:rPr>
              <a:t>LOC · 月典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603BE-754F-4F85-9FC8-4565E6D3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02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55A1B-C22C-4685-AD35-192AA95D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9E772-C6D7-40C2-8E5B-FECABC7A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348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E0E49-FA4D-48EF-B2FB-5DFCDC69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1348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1BB74-BD74-4694-A065-DA3BD9ED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1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7F1E7"/>
                </a:solidFill>
              </a:defRPr>
            </a:pPr>
            <a:r>
              <a:rPr sz="3900" b="1">
                <a:solidFill>
                  <a:srgbClr val="F7F1E7"/>
                </a:solidFill>
              </a:rPr>
              <a:t>開始LOC之前，只需要先問一件事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DCE9C-A16F-4A54-A192-8E5E2D55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8915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300" b="1">
                <a:solidFill>
                  <a:srgbClr val="A88BEF"/>
                </a:solidFill>
              </a:defRPr>
            </a:pPr>
            <a:r>
              <a:rPr sz="3300" b="1">
                <a:solidFill>
                  <a:srgbClr val="A88BEF"/>
                </a:solidFill>
              </a:rPr>
              <a:t>「我現在真正想理解的是什麼？」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427E4-0049-4DBF-81F8-95AA9547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38675"/>
            <a:ext cx="765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6453D-E90B-4C47-BF0C-2F220B38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A88BEF"/>
                </a:solidFill>
              </a:defRPr>
            </a:pPr>
            <a:r>
              <a:rPr sz="2550" b="1">
                <a:solidFill>
                  <a:srgbClr val="A88BEF"/>
                </a:solidFill>
              </a:rPr>
              <a:t>狀態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32A20-C1DA-4DBB-B061-90034FD4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626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F7F1E7"/>
                </a:solidFill>
              </a:defRPr>
            </a:pPr>
            <a:r>
              <a:rPr sz="2400" b="0">
                <a:solidFill>
                  <a:srgbClr val="F7F1E7"/>
                </a:solidFill>
              </a:rPr>
              <a:t>我為什麼一直卡在這裡？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5BB38-6A74-48EE-A9DC-6109B422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40080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6B65E-C1B8-49BE-A910-954E9125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9137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D7B36A"/>
                </a:solidFill>
              </a:defRPr>
            </a:pPr>
            <a:r>
              <a:rPr sz="2550" b="1">
                <a:solidFill>
                  <a:srgbClr val="D7B36A"/>
                </a:solidFill>
              </a:rPr>
              <a:t>關係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52640-D0F8-4D9A-90CF-1EAB98A3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229475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F7F1E7"/>
                </a:solidFill>
              </a:defRPr>
            </a:pPr>
            <a:r>
              <a:rPr sz="2400" b="0">
                <a:solidFill>
                  <a:srgbClr val="F7F1E7"/>
                </a:solidFill>
              </a:rPr>
              <a:t>這段互動真正的問題是什麼？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5AEB2-83DE-4591-8AEA-701C565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067675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AC7A85-6914-4C39-89DD-E63F48D5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50" b="1">
                <a:solidFill>
                  <a:srgbClr val="91B9A2"/>
                </a:solidFill>
              </a:defRPr>
            </a:pPr>
            <a:r>
              <a:rPr sz="2550" b="1">
                <a:solidFill>
                  <a:srgbClr val="91B9A2"/>
                </a:solidFill>
              </a:rPr>
              <a:t>選擇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1861E5-05B4-4750-BB53-1C0F959E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8963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F7F1E7"/>
                </a:solidFill>
              </a:defRPr>
            </a:pPr>
            <a:r>
              <a:rPr sz="2400" b="0">
                <a:solidFill>
                  <a:srgbClr val="F7F1E7"/>
                </a:solidFill>
              </a:rPr>
              <a:t>我忽略了哪一個考量？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278CB-B7B6-4FF8-A587-B7125076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973455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53CD8-8EE9-46E0-BA87-33A095AE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C9D2E8"/>
                </a:solidFill>
              </a:defRPr>
            </a:pPr>
            <a:r>
              <a:rPr sz="2250" b="1">
                <a:solidFill>
                  <a:srgbClr val="C9D2E8"/>
                </a:solidFill>
              </a:rPr>
              <a:t>問題越具體，符文越容易成為可用的描述。</a:t>
            </a:r>
          </a:p>
        </p:txBody>
      </p:sp>
    </p:spTree>
    <p:extLst>
      <p:ext uri="{BB962C8B-B14F-4D97-AF65-F5344CB8AC3E}">
        <p14:creationId xmlns:p14="http://schemas.microsoft.com/office/powerpoint/2010/main" val="101290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3D10D-08D0-4C55-B099-B3B2274F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D8210-C817-441B-BF40-985F0535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D7B36A"/>
                </a:solidFill>
              </a:defRPr>
            </a:pPr>
            <a:r>
              <a:rPr sz="1575" b="1">
                <a:solidFill>
                  <a:srgbClr val="D7B36A"/>
                </a:solidFill>
              </a:rPr>
              <a:t>LOC · 月典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4ED82-3DE8-4633-BB95-84797CE9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03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73C4B-D12E-4B4A-BFC2-BAFDB9CE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FFE7E-7F10-4401-8FF3-84AD2B10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348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A6D22-1653-45A7-83EE-AEAA7F6E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1348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159DE-6DF6-4C5B-BCE0-A8EB4BC4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15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7F1E7"/>
                </a:solidFill>
              </a:defRPr>
            </a:pPr>
            <a:r>
              <a:rPr sz="3900" b="1">
                <a:solidFill>
                  <a:srgbClr val="F7F1E7"/>
                </a:solidFill>
              </a:rPr>
              <a:t>LOC不是替你預言，而是協助你描述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1D1FC-3936-42FD-B209-DC352D62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876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2550" b="0">
                <a:solidFill>
                  <a:srgbClr val="C9D2E8"/>
                </a:solidFill>
              </a:defRPr>
            </a:pPr>
            <a:r>
              <a:rPr sz="2550" b="0">
                <a:solidFill>
                  <a:srgbClr val="C9D2E8"/>
                </a:solidFill>
              </a:rPr>
              <a:t>它以符文作為共同語意詞彙，讓感受、問題與觀點能夠被排列、比較與討論。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69A01-A1F9-465D-B66B-9FC113D7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A88BEF"/>
                </a:solidFill>
              </a:defRPr>
            </a:pPr>
            <a:r>
              <a:rPr sz="4050" b="1">
                <a:solidFill>
                  <a:srgbClr val="A88BEF"/>
                </a:solidFill>
              </a:rPr>
              <a:t>描述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95B61-6170-4630-A129-CE386262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86425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F7F1E7"/>
                </a:solidFill>
              </a:defRPr>
            </a:pPr>
            <a:r>
              <a:rPr sz="2175" b="0">
                <a:solidFill>
                  <a:srgbClr val="F7F1E7"/>
                </a:solidFill>
              </a:rPr>
              <a:t>把模糊感受轉成可以說明的結構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4A949-0913-43A6-B79F-41EF8B23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9137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D7B36A"/>
                </a:solidFill>
              </a:defRPr>
            </a:pPr>
            <a:r>
              <a:rPr sz="4050" b="1">
                <a:solidFill>
                  <a:srgbClr val="D7B36A"/>
                </a:solidFill>
              </a:rPr>
              <a:t>比較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683D5-03C3-4A30-9CA3-C6BF25D8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305675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F7F1E7"/>
                </a:solidFill>
              </a:defRPr>
            </a:pPr>
            <a:r>
              <a:rPr sz="2175" b="0">
                <a:solidFill>
                  <a:srgbClr val="F7F1E7"/>
                </a:solidFill>
              </a:rPr>
              <a:t>看見不同答案採用的角度與尺度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712325-7CDA-4D1C-B67A-BEE27053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8106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91B9A2"/>
                </a:solidFill>
              </a:defRPr>
            </a:pPr>
            <a:r>
              <a:rPr sz="4050" b="1">
                <a:solidFill>
                  <a:srgbClr val="91B9A2"/>
                </a:solidFill>
              </a:rPr>
              <a:t>交流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D6923-2E87-40B9-81CA-FD6D94C5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924925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F7F1E7"/>
                </a:solidFill>
              </a:defRPr>
            </a:pPr>
            <a:r>
              <a:rPr sz="2175" b="0">
                <a:solidFill>
                  <a:srgbClr val="F7F1E7"/>
                </a:solidFill>
              </a:rPr>
              <a:t>在差異之間形成此刻可用的理解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7DB98-4E18-4C84-A97E-194CD724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10875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8997B8"/>
                </a:solidFill>
              </a:defRPr>
            </a:pPr>
            <a:r>
              <a:rPr sz="1650" b="0">
                <a:solidFill>
                  <a:srgbClr val="8997B8"/>
                </a:solidFill>
              </a:rPr>
              <a:t>LOC是理解與交流工具，不取代醫療、法律或財務等專業判斷。</a:t>
            </a:r>
          </a:p>
        </p:txBody>
      </p:sp>
    </p:spTree>
    <p:extLst>
      <p:ext uri="{BB962C8B-B14F-4D97-AF65-F5344CB8AC3E}">
        <p14:creationId xmlns:p14="http://schemas.microsoft.com/office/powerpoint/2010/main" val="1491583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A036DE-744E-4A2B-B517-7E1CD05B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04A27-3527-47CC-8122-C63A9949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D7B36A"/>
                </a:solidFill>
              </a:defRPr>
            </a:pPr>
            <a:r>
              <a:rPr sz="1575" b="1">
                <a:solidFill>
                  <a:srgbClr val="D7B36A"/>
                </a:solidFill>
              </a:rPr>
              <a:t>LOC · 月典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C9C80-4A72-47EA-8514-52BB0A04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04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527C7-65BB-46F6-AF85-691EDBA5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ADD3F-C46D-497B-BC51-35C58E77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348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30F5F-A28C-468E-9223-20A92586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1348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1C71E-3C88-4CE9-96EA-4F1880F6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1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7F1E7"/>
                </a:solidFill>
              </a:defRPr>
            </a:pPr>
            <a:r>
              <a:rPr sz="4050" b="1">
                <a:solidFill>
                  <a:srgbClr val="F7F1E7"/>
                </a:solidFill>
              </a:rPr>
              <a:t>66符文構成LOC的基礎語彙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1B652-92BE-4A75-B771-C6B3A603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200" b="1">
                <a:solidFill>
                  <a:srgbClr val="A88BEF"/>
                </a:solidFill>
              </a:defRPr>
            </a:pPr>
            <a:r>
              <a:rPr sz="13200" b="1">
                <a:solidFill>
                  <a:srgbClr val="A88BEF"/>
                </a:solidFill>
              </a:rPr>
              <a:t>66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28791-C235-4085-8C96-7DCF7FAD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D7B36A"/>
                </a:solidFill>
              </a:defRPr>
            </a:pPr>
            <a:r>
              <a:rPr sz="2700" b="1">
                <a:solidFill>
                  <a:srgbClr val="D7B36A"/>
                </a:solidFill>
              </a:rPr>
              <a:t>1–64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2DC22-E036-4C4F-A76F-CA905703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F7F1E7"/>
                </a:solidFill>
              </a:defRPr>
            </a:pPr>
            <a:r>
              <a:rPr sz="2175" b="0">
                <a:solidFill>
                  <a:srgbClr val="F7F1E7"/>
                </a:solidFill>
              </a:rPr>
              <a:t>八組核心符文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9B18B-1FF4-418F-B882-5DC4F1E2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86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D7B36A"/>
                </a:solidFill>
              </a:defRPr>
            </a:pPr>
            <a:r>
              <a:rPr sz="2700" b="1">
                <a:solidFill>
                  <a:srgbClr val="D7B36A"/>
                </a:solidFill>
              </a:rPr>
              <a:t>65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3F135-DD6D-4C96-8C48-44C3A7A0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F7F1E7"/>
                </a:solidFill>
              </a:defRPr>
            </a:pPr>
            <a:r>
              <a:rPr sz="2175" b="0">
                <a:solidFill>
                  <a:srgbClr val="F7F1E7"/>
                </a:solidFill>
              </a:rPr>
              <a:t>玄 · Chaos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B685E-A357-436B-AC9C-46BA02E8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387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1">
                <a:solidFill>
                  <a:srgbClr val="D7B36A"/>
                </a:solidFill>
              </a:defRPr>
            </a:pPr>
            <a:r>
              <a:rPr sz="2700" b="1">
                <a:solidFill>
                  <a:srgbClr val="D7B36A"/>
                </a:solidFill>
              </a:rPr>
              <a:t>66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53B90-4F2C-41DD-B81F-A6545589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959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F7F1E7"/>
                </a:solidFill>
              </a:defRPr>
            </a:pPr>
            <a:r>
              <a:rPr sz="2175" b="0">
                <a:solidFill>
                  <a:srgbClr val="F7F1E7"/>
                </a:solidFill>
              </a:rPr>
              <a:t>命 · Fate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60A7B-594C-4C41-927E-5DF0A7B6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DDA11-2D1F-4ADB-9F5F-E38EEC8D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6280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每張正方形卡牌有四個語意方向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DE8EDF-0961-4E6D-AB77-460A3076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4963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8B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81F83D-F4A4-45C8-B702-6AA0890B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50" b="1">
                <a:solidFill>
                  <a:srgbClr val="F7F1E7"/>
                </a:solidFill>
              </a:defRPr>
            </a:pPr>
            <a:r>
              <a:rPr sz="1950" b="1">
                <a:solidFill>
                  <a:srgbClr val="F7F1E7"/>
                </a:solidFill>
              </a:rPr>
              <a:t>正位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AB4473-A337-4740-858E-5D7361E9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84963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B9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314D55-6DFC-410C-925B-8B9BD9A6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952500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50" b="1">
                <a:solidFill>
                  <a:srgbClr val="F7F1E7"/>
                </a:solidFill>
              </a:defRPr>
            </a:pPr>
            <a:r>
              <a:rPr sz="1950" b="1">
                <a:solidFill>
                  <a:srgbClr val="F7F1E7"/>
                </a:solidFill>
              </a:rPr>
              <a:t>半正位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4808FE-5718-4FA8-93DA-DA86E96A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84963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3E05B5-5032-4592-B82F-B56F496F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952500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50" b="1">
                <a:solidFill>
                  <a:srgbClr val="F7F1E7"/>
                </a:solidFill>
              </a:defRPr>
            </a:pPr>
            <a:r>
              <a:rPr sz="1950" b="1">
                <a:solidFill>
                  <a:srgbClr val="F7F1E7"/>
                </a:solidFill>
              </a:rPr>
              <a:t>半逆位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DD68F4-A815-4292-85B1-DBCA7CD7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8496300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8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206292-848C-4321-8D02-DB43E1EB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9525000"/>
            <a:ext cx="1485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50" b="1">
                <a:solidFill>
                  <a:srgbClr val="F7F1E7"/>
                </a:solidFill>
              </a:defRPr>
            </a:pPr>
            <a:r>
              <a:rPr sz="1950" b="1">
                <a:solidFill>
                  <a:srgbClr val="F7F1E7"/>
                </a:solidFill>
              </a:rPr>
              <a:t>逆位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1BAF64-BE80-459B-B82A-7E82C393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15625"/>
            <a:ext cx="876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C9D2E8"/>
                </a:solidFill>
              </a:defRPr>
            </a:pPr>
            <a:r>
              <a:rPr sz="2100" b="0">
                <a:solidFill>
                  <a:srgbClr val="C9D2E8"/>
                </a:solidFill>
              </a:rPr>
              <a:t>方向調整語意張力，不抹除符文本身的核心意義。</a:t>
            </a:r>
          </a:p>
        </p:txBody>
      </p:sp>
    </p:spTree>
    <p:extLst>
      <p:ext uri="{BB962C8B-B14F-4D97-AF65-F5344CB8AC3E}">
        <p14:creationId xmlns:p14="http://schemas.microsoft.com/office/powerpoint/2010/main" val="11318057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4163B5-D9A7-431D-B296-89AC840E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003AD-3B2A-4075-A8F4-16471423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D7B36A"/>
                </a:solidFill>
              </a:defRPr>
            </a:pPr>
            <a:r>
              <a:rPr sz="1575" b="1">
                <a:solidFill>
                  <a:srgbClr val="D7B36A"/>
                </a:solidFill>
              </a:rPr>
              <a:t>LOC · 月典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7910F-0B0A-48DD-9497-01DB7032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05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E514E-3CBB-4560-9F6A-8670AA4B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B01E0-475F-4F7F-905F-5434965C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348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7346E-1872-4F9B-B3CD-1C79E151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1348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D4603-5C6B-4E61-A670-4D96F473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1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7F1E7"/>
                </a:solidFill>
              </a:defRPr>
            </a:pPr>
            <a:r>
              <a:rPr sz="4050" b="1">
                <a:solidFill>
                  <a:srgbClr val="F7F1E7"/>
                </a:solidFill>
              </a:rPr>
              <a:t>第一次使用，從單張開始就夠了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547AE-95C6-44DD-BE17-22543302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14675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58364-026C-41D1-9F84-83FE6C12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3176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F7F1E7"/>
                </a:solidFill>
              </a:defRPr>
            </a:pPr>
            <a:r>
              <a:rPr sz="2100" b="1">
                <a:solidFill>
                  <a:srgbClr val="F7F1E7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6CCEE-F535-4A8B-A8C3-58C765B8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242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寫下問題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B068D-B0A7-4828-8DA3-3B75CE80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6237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C9D2E8"/>
                </a:solidFill>
              </a:defRPr>
            </a:pPr>
            <a:r>
              <a:rPr sz="2025" b="0">
                <a:solidFill>
                  <a:srgbClr val="C9D2E8"/>
                </a:solidFill>
              </a:rPr>
              <a:t>避免只問好不好，先說清楚想理解什麼。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29D71-C158-4BEE-A608-42F1F226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71925"/>
            <a:ext cx="3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06B96-5537-445B-962E-14B4DAC9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6730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72835-0EDF-460A-955F-9E3680E9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65801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F7F1E7"/>
                </a:solidFill>
              </a:defRPr>
            </a:pPr>
            <a:r>
              <a:rPr sz="2100" b="1">
                <a:solidFill>
                  <a:srgbClr val="F7F1E7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02628-AE3F-498B-AF74-1ED9ABA8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7682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抽一張符文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803EA-80C2-4DCE-8089-57BA6009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150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C9D2E8"/>
                </a:solidFill>
              </a:defRPr>
            </a:pPr>
            <a:r>
              <a:rPr sz="2025" b="0">
                <a:solidFill>
                  <a:srgbClr val="C9D2E8"/>
                </a:solidFill>
              </a:rPr>
              <a:t>使用實體牌，或在線上PWA抽取。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33A71-7D06-4FA2-BA5D-373F6B7A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24550"/>
            <a:ext cx="3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2ACA5-B3D7-4BB3-9AD3-85AC654D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019925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D6CA1-8938-4A75-A0DC-B7F59C6F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218426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F7F1E7"/>
                </a:solidFill>
              </a:defRPr>
            </a:pPr>
            <a:r>
              <a:rPr sz="2100" b="1">
                <a:solidFill>
                  <a:srgbClr val="F7F1E7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4A258-F317-4E82-8E9E-B9279499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0294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閱讀本義與方向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0A81DD-750A-4B51-8720-D00E2A8D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667625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C9D2E8"/>
                </a:solidFill>
              </a:defRPr>
            </a:pPr>
            <a:r>
              <a:rPr sz="2025" b="0">
                <a:solidFill>
                  <a:srgbClr val="C9D2E8"/>
                </a:solidFill>
              </a:rPr>
              <a:t>先理解符文，再對照自己的問題。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49CA0-DF99-47DF-8CCF-51F9A815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877175"/>
            <a:ext cx="3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7E472B-F3F6-4218-BD52-378762A7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9725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F038C1-FC44-49A6-B094-57DB1CD3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9171051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06112C"/>
                </a:solidFill>
              </a:defRPr>
            </a:pPr>
            <a:r>
              <a:rPr sz="2100" b="1">
                <a:solidFill>
                  <a:srgbClr val="06112C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616FCB-C9E7-4536-BBD6-2026B4D3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898207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留下自己的回答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578362-9518-4265-B5AC-02E1A5C0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96202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C9D2E8"/>
                </a:solidFill>
              </a:defRPr>
            </a:pPr>
            <a:r>
              <a:rPr sz="2025" b="0">
                <a:solidFill>
                  <a:srgbClr val="C9D2E8"/>
                </a:solidFill>
              </a:rPr>
              <a:t>記錄它在哪裡符合，又在哪裡不符合。</a:t>
            </a:r>
          </a:p>
        </p:txBody>
      </p:sp>
    </p:spTree>
    <p:extLst>
      <p:ext uri="{BB962C8B-B14F-4D97-AF65-F5344CB8AC3E}">
        <p14:creationId xmlns:p14="http://schemas.microsoft.com/office/powerpoint/2010/main" val="14832866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811F92-F2E1-4FDB-9D61-4CA7E5E5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0F967-F7DE-415B-8A5E-AF94B0FB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D7B36A"/>
                </a:solidFill>
              </a:defRPr>
            </a:pPr>
            <a:r>
              <a:rPr sz="1575" b="1">
                <a:solidFill>
                  <a:srgbClr val="D7B36A"/>
                </a:solidFill>
              </a:rPr>
              <a:t>LOC · 月典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5EFE9-C8F4-4F16-9EE9-0A00208C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06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D12D8-3BAD-423F-BEC1-95216DE2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B08F1-1FB3-4002-A9BB-EFC56EE7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348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25BBF-17A1-41B0-871C-C8E521FA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1348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B14DD-E845-473D-95A8-A1BDBC76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15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7F1E7"/>
                </a:solidFill>
              </a:defRPr>
            </a:pPr>
            <a:r>
              <a:rPr sz="3900" b="1">
                <a:solidFill>
                  <a:srgbClr val="F7F1E7"/>
                </a:solidFill>
              </a:rPr>
              <a:t>熟悉以後，再逐步增加語意關係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943AA-5DE7-4B5E-8C51-B521484C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150" b="1">
                <a:solidFill>
                  <a:srgbClr val="A88BEF"/>
                </a:solidFill>
              </a:defRPr>
            </a:pPr>
            <a:r>
              <a:rPr sz="3150" b="1">
                <a:solidFill>
                  <a:srgbClr val="A88BEF"/>
                </a:solidFill>
              </a:rPr>
              <a:t>1張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17D4C-5F64-465F-9FCE-73098275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43275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F7F1E7"/>
                </a:solidFill>
              </a:defRPr>
            </a:pPr>
            <a:r>
              <a:rPr sz="2175" b="0">
                <a:solidFill>
                  <a:srgbClr val="F7F1E7"/>
                </a:solidFill>
              </a:rPr>
              <a:t>辨認當下焦點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29187-C3A0-4D9F-A4C6-B263BD7A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7670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A3DA1-BBC9-4ABC-98B1-FEF2064B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150" b="1">
                <a:solidFill>
                  <a:srgbClr val="D7B36A"/>
                </a:solidFill>
              </a:defRPr>
            </a:pPr>
            <a:r>
              <a:rPr sz="3150" b="1">
                <a:solidFill>
                  <a:srgbClr val="D7B36A"/>
                </a:solidFill>
              </a:rPr>
              <a:t>2張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942B2-CFC1-4605-BFA1-BC3C7BFB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05375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F7F1E7"/>
                </a:solidFill>
              </a:defRPr>
            </a:pPr>
            <a:r>
              <a:rPr sz="2175" b="0">
                <a:solidFill>
                  <a:srgbClr val="F7F1E7"/>
                </a:solidFill>
              </a:rPr>
              <a:t>觀察兩個語意之間的關係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63F0D3-3BBB-45D1-A56E-18717BC7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3880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85D90-6B63-4068-B102-A952CDF7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03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150" b="1">
                <a:solidFill>
                  <a:srgbClr val="91B9A2"/>
                </a:solidFill>
              </a:defRPr>
            </a:pPr>
            <a:r>
              <a:rPr sz="3150" b="1">
                <a:solidFill>
                  <a:srgbClr val="91B9A2"/>
                </a:solidFill>
              </a:rPr>
              <a:t>3張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6B911-C141-4E92-8C4F-F0E19517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467475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F7F1E7"/>
                </a:solidFill>
              </a:defRPr>
            </a:pPr>
            <a:r>
              <a:rPr sz="2175" b="0">
                <a:solidFill>
                  <a:srgbClr val="F7F1E7"/>
                </a:solidFill>
              </a:rPr>
              <a:t>形成源－轉－合的基本結構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1CDE7-138C-4A86-B969-3015B2E5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20090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F88CE-07BD-469C-B747-B5CCB7B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724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150" b="1">
                <a:solidFill>
                  <a:srgbClr val="D98A72"/>
                </a:solidFill>
              </a:defRPr>
            </a:pPr>
            <a:r>
              <a:rPr sz="3150" b="1">
                <a:solidFill>
                  <a:srgbClr val="D98A72"/>
                </a:solidFill>
              </a:rPr>
              <a:t>5張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A1B47-3BF2-43B3-B1FF-0FB503B2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29575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F7F1E7"/>
                </a:solidFill>
              </a:defRPr>
            </a:pPr>
            <a:r>
              <a:rPr sz="2175" b="0">
                <a:solidFill>
                  <a:srgbClr val="F7F1E7"/>
                </a:solidFill>
              </a:rPr>
              <a:t>展開更完整的局勢與互動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E3CCD-F27B-433C-90B5-ED4903A6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76300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A597A-46BB-45B1-9655-B007F8BE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345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150" b="1">
                <a:solidFill>
                  <a:srgbClr val="A88BEF"/>
                </a:solidFill>
              </a:defRPr>
            </a:pPr>
            <a:r>
              <a:rPr sz="3150" b="1">
                <a:solidFill>
                  <a:srgbClr val="A88BEF"/>
                </a:solidFill>
              </a:rPr>
              <a:t>11張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96482-E683-4A27-9C15-546A2ED5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9591675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F7F1E7"/>
                </a:solidFill>
              </a:defRPr>
            </a:pPr>
            <a:r>
              <a:rPr sz="2175" b="0">
                <a:solidFill>
                  <a:srgbClr val="F7F1E7"/>
                </a:solidFill>
              </a:rPr>
              <a:t>OW3gs深層結構與核心判定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1C6BEC-1C6A-4FE2-9F75-74378706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32510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92D5C-5BE3-46E8-8160-6F061923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9662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C9D2E8"/>
                </a:solidFill>
              </a:defRPr>
            </a:pPr>
            <a:r>
              <a:rPr sz="2250" b="1">
                <a:solidFill>
                  <a:srgbClr val="C9D2E8"/>
                </a:solidFill>
              </a:rPr>
              <a:t>不必一次學完。LOC可以隨使用經驗逐層展開。</a:t>
            </a:r>
          </a:p>
        </p:txBody>
      </p:sp>
    </p:spTree>
    <p:extLst>
      <p:ext uri="{BB962C8B-B14F-4D97-AF65-F5344CB8AC3E}">
        <p14:creationId xmlns:p14="http://schemas.microsoft.com/office/powerpoint/2010/main" val="829115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054A0-D7ED-4B87-B8B1-316BA1FC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B7D0E-023D-49FA-95B9-E7B26365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D7B36A"/>
                </a:solidFill>
              </a:defRPr>
            </a:pPr>
            <a:r>
              <a:rPr sz="1575" b="1">
                <a:solidFill>
                  <a:srgbClr val="D7B36A"/>
                </a:solidFill>
              </a:rPr>
              <a:t>LOC2 · SEMANTIC PLAYGROUND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2F9FA-41B2-49E3-9398-B3CA238B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07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21A11-95DF-45A0-8B6F-0E788445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98DFA-CB67-434E-88EB-6519D7BE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348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D14DD-E22B-48F3-ABD0-14801FAE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1348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121C5-7FB2-467D-9AB2-83AB5400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15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F7F1E7"/>
                </a:solidFill>
              </a:defRPr>
            </a:pPr>
            <a:r>
              <a:rPr sz="3750" b="1">
                <a:solidFill>
                  <a:srgbClr val="F7F1E7"/>
                </a:solidFill>
              </a:rPr>
              <a:t>當多人一起回答，LOC就成為語意桌遊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D28279-E41B-4772-B30C-3EC2BDE0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876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0">
                <a:solidFill>
                  <a:srgbClr val="C9D2E8"/>
                </a:solidFill>
              </a:defRPr>
            </a:pPr>
            <a:r>
              <a:rPr sz="2325" b="0">
                <a:solidFill>
                  <a:srgbClr val="C9D2E8"/>
                </a:solidFill>
              </a:rPr>
              <a:t>LOC2不是比較誰的牌比較強，而是比較面對同一個事件時，每個人如何建構回答。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D241A-6826-48A7-8D8E-F9F0B80D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038725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2B1E9-F05B-4FB1-9FE2-70893F6B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202174"/>
            <a:ext cx="628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F7F1E7"/>
                </a:solidFill>
              </a:defRPr>
            </a:pPr>
            <a:r>
              <a:rPr sz="1650" b="1">
                <a:solidFill>
                  <a:srgbClr val="F7F1E7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C4943-5C25-48C6-B506-BA1A8642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482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世界提出事件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1CBDB-25AB-4B2B-AAAC-59DB860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9595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6BD4E-5885-4100-A2F0-5A9A802A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5151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CEB6D-A7A3-408E-BBF1-6B6718B3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678549"/>
            <a:ext cx="628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F7F1E7"/>
                </a:solidFill>
              </a:defRPr>
            </a:pPr>
            <a:r>
              <a:rPr sz="1650" b="1">
                <a:solidFill>
                  <a:srgbClr val="F7F1E7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95A0E-6236-40E0-AD9A-DBC206C6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52462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玩家用符文回答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442A5-EF9D-4F14-9EF7-FE7E5D34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172325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601FA-9CA8-4B80-A573-8849E91D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7991475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CC183-E0BF-422B-AB86-46C00DA2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8154924"/>
            <a:ext cx="628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F7F1E7"/>
                </a:solidFill>
              </a:defRPr>
            </a:pPr>
            <a:r>
              <a:rPr sz="1650" b="1">
                <a:solidFill>
                  <a:srgbClr val="F7F1E7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2F619-43CB-4AEA-AB4D-3EB1F65D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80010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答案彼此共振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3B53C-1FBA-4401-BE91-B36E2BBF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64870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1EA7D-1973-4F19-9579-BE2F4917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946785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79B0A9-69A1-4A4E-B294-97769C18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9631299"/>
            <a:ext cx="628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06112C"/>
                </a:solidFill>
              </a:defRPr>
            </a:pPr>
            <a:r>
              <a:rPr sz="1650" b="1">
                <a:solidFill>
                  <a:srgbClr val="06112C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9DBC3-6A10-4380-8550-187D6905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947737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50" b="1">
                <a:solidFill>
                  <a:srgbClr val="F7F1E7"/>
                </a:solidFill>
              </a:defRPr>
            </a:pPr>
            <a:r>
              <a:rPr sz="2850" b="1">
                <a:solidFill>
                  <a:srgbClr val="F7F1E7"/>
                </a:solidFill>
              </a:rPr>
              <a:t>形成暫時定義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F928EF-1715-46F6-AB50-0B983D84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0">
                <a:solidFill>
                  <a:srgbClr val="D7B36A"/>
                </a:solidFill>
              </a:defRPr>
            </a:pPr>
            <a:r>
              <a:rPr sz="1875" b="0">
                <a:solidFill>
                  <a:srgbClr val="D7B36A"/>
                </a:solidFill>
              </a:rPr>
              <a:t>目前Alpha以32張事件卡測試；每位玩家各用自己的66符文牌組，牌堆不混用。</a:t>
            </a:r>
          </a:p>
        </p:txBody>
      </p:sp>
    </p:spTree>
    <p:extLst>
      <p:ext uri="{BB962C8B-B14F-4D97-AF65-F5344CB8AC3E}">
        <p14:creationId xmlns:p14="http://schemas.microsoft.com/office/powerpoint/2010/main" val="20956782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4B17EC-ACA5-41F8-8871-9D1F176F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BECDE-ADDA-4B24-89D5-6CF64055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D7B36A"/>
                </a:solidFill>
              </a:defRPr>
            </a:pPr>
            <a:r>
              <a:rPr sz="1575" b="1">
                <a:solidFill>
                  <a:srgbClr val="D7B36A"/>
                </a:solidFill>
              </a:rPr>
              <a:t>LOC8 · LIFE DISTRIBUTION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E1F72-66A4-465D-B1B4-BA616807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08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BBFCA-279F-4DB2-92C0-ECFC41FA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0E42C-B8A0-4622-B9C9-1C3478A4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348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352CE-8748-4B41-9861-638EDBA4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1348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C1181-2CB4-4B16-BAA0-3B1D53B2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15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7F1E7"/>
                </a:solidFill>
              </a:defRPr>
            </a:pPr>
            <a:r>
              <a:rPr sz="3900" b="1">
                <a:solidFill>
                  <a:srgbClr val="F7F1E7"/>
                </a:solidFill>
              </a:rPr>
              <a:t>每天不是孤立結果，一週會形成趨勢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D68B5-ED9C-4B3E-8B58-B4D97009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876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325" b="0">
                <a:solidFill>
                  <a:srgbClr val="C9D2E8"/>
                </a:solidFill>
              </a:defRPr>
            </a:pPr>
            <a:r>
              <a:rPr sz="2325" b="0">
                <a:solidFill>
                  <a:srgbClr val="C9D2E8"/>
                </a:solidFill>
              </a:rPr>
              <a:t>持續記錄後，可以觀察哪些主題反覆出現、語意張力如何改變，以及本週正在往哪裡移動。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95FD4-4E38-46E4-ACAE-358AA072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86300"/>
            <a:ext cx="381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F579B-C7BD-43FE-B238-0FF38989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2661B-88A7-4082-902A-8CB1DFEB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533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8997B8"/>
                </a:solidFill>
              </a:defRPr>
            </a:pPr>
            <a:r>
              <a:rPr sz="1650" b="1">
                <a:solidFill>
                  <a:srgbClr val="8997B8"/>
                </a:solidFill>
              </a:rPr>
              <a:t>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6B0B7-E779-46A6-B544-E4ECE1FB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57800"/>
            <a:ext cx="381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0ECD3-DE25-43D2-B22B-643805C6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22CEC-E56B-4863-AA59-D71BA55F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79533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8997B8"/>
                </a:solidFill>
              </a:defRPr>
            </a:pPr>
            <a:r>
              <a:rPr sz="1650" b="1">
                <a:solidFill>
                  <a:srgbClr val="8997B8"/>
                </a:solidFill>
              </a:rPr>
              <a:t>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CE009A-69F1-446D-981C-A795E0CD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19675"/>
            <a:ext cx="38100" cy="292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75928-04E2-47CF-A7E2-384B1B27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1962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EA6EF-BEA1-4178-BE02-5C4E2641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79533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8997B8"/>
                </a:solidFill>
              </a:defRPr>
            </a:pPr>
            <a:r>
              <a:rPr sz="1650" b="1">
                <a:solidFill>
                  <a:srgbClr val="8997B8"/>
                </a:solidFill>
              </a:rPr>
              <a:t>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64D70-DDEC-400A-AED7-7BAB9A30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76925"/>
            <a:ext cx="38100" cy="2066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BD773-3098-42CE-95F5-42485EB4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47687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E1C32F-5781-4354-A1A1-F0253DFA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79533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8997B8"/>
                </a:solidFill>
              </a:defRPr>
            </a:pPr>
            <a:r>
              <a:rPr sz="1650" b="1">
                <a:solidFill>
                  <a:srgbClr val="8997B8"/>
                </a:solidFill>
              </a:rPr>
              <a:t>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87532-57E5-4A5F-BDB2-DA4F5E83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257925"/>
            <a:ext cx="381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D3540-3E69-4BED-A5CD-B4778B0B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85787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BEA934-D917-412D-B8B6-D830A859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9533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8997B8"/>
                </a:solidFill>
              </a:defRPr>
            </a:pPr>
            <a:r>
              <a:rPr sz="1650" b="1">
                <a:solidFill>
                  <a:srgbClr val="8997B8"/>
                </a:solidFill>
              </a:rPr>
              <a:t>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8585B3-BF98-4A3C-B1BD-A37C1AA5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762750"/>
            <a:ext cx="38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8EF43-F805-4421-9022-4249F0FC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3627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87962F-1031-4BE6-977D-BD6F9992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79533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8997B8"/>
                </a:solidFill>
              </a:defRPr>
            </a:pPr>
            <a:r>
              <a:rPr sz="1650" b="1">
                <a:solidFill>
                  <a:srgbClr val="8997B8"/>
                </a:solidFill>
              </a:rPr>
              <a:t>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A13866-E16C-4873-A889-F53F8633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96050"/>
            <a:ext cx="381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40933F-9DD2-4D91-AEF8-AB4E3390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0960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888CFC-2C7C-4DC6-9983-F063CB53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79533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650" b="1">
                <a:solidFill>
                  <a:srgbClr val="8997B8"/>
                </a:solidFill>
              </a:defRPr>
            </a:pPr>
            <a:r>
              <a:rPr sz="1650" b="1">
                <a:solidFill>
                  <a:srgbClr val="8997B8"/>
                </a:solidFill>
              </a:rPr>
              <a:t>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3BCC96-AEDB-4686-8068-BFC45B4C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0"/>
            <a:ext cx="876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7F1E7"/>
                </a:solidFill>
              </a:defRPr>
            </a:pPr>
            <a:r>
              <a:rPr sz="2250" b="1">
                <a:solidFill>
                  <a:srgbClr val="F7F1E7"/>
                </a:solidFill>
              </a:rPr>
              <a:t>LOC7負責建立跨日、跨作品的語意關係；LOC8把關係整理成可閱讀的週期趨勢。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981930-3010-48CA-A5BE-5F3600AB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29875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25" b="0">
                <a:solidFill>
                  <a:srgbClr val="91B9A2"/>
                </a:solidFill>
              </a:defRPr>
            </a:pPr>
            <a:r>
              <a:rPr sz="2025" b="0">
                <a:solidFill>
                  <a:srgbClr val="91B9A2"/>
                </a:solidFill>
              </a:rPr>
              <a:t>分析完成後，才延伸推薦LOC3歌曲、LOC4文字或LOC5圖像與MV。</a:t>
            </a:r>
          </a:p>
        </p:txBody>
      </p:sp>
    </p:spTree>
    <p:extLst>
      <p:ext uri="{BB962C8B-B14F-4D97-AF65-F5344CB8AC3E}">
        <p14:creationId xmlns:p14="http://schemas.microsoft.com/office/powerpoint/2010/main" val="619539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0DC8E8-5A1E-4C2B-9CF0-25E30720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ECF85-5EC3-413E-ABD9-ACA9EDF4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D7B36A"/>
                </a:solidFill>
              </a:defRPr>
            </a:pPr>
            <a:r>
              <a:rPr sz="1575" b="1">
                <a:solidFill>
                  <a:srgbClr val="D7B36A"/>
                </a:solidFill>
              </a:rPr>
              <a:t>LOC SYSTEM · 月典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9D09F-086E-46CE-8F1B-574EEDCA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09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7CB76-007D-4D93-BFA8-F84ADD54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E784B-73AE-456D-989D-D131AD73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348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07984-42BD-4D4E-A600-CA9A3323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1348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D12E7-FE77-4D46-A077-2E8FA631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15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F7F1E7"/>
                </a:solidFill>
              </a:defRPr>
            </a:pPr>
            <a:r>
              <a:rPr sz="3900" b="1">
                <a:solidFill>
                  <a:srgbClr val="F7F1E7"/>
                </a:solidFill>
              </a:rPr>
              <a:t>LOC1–8是責任分工，不是作品目錄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70E4B-EA25-4945-92AF-7C45E1CD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8997B8"/>
                </a:solidFill>
              </a:defRPr>
            </a:pPr>
            <a:r>
              <a:rPr sz="1800" b="1">
                <a:solidFill>
                  <a:srgbClr val="8997B8"/>
                </a:solidFill>
              </a:rPr>
              <a:t>基礎語彙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F9E47-C8F6-47B2-B795-6D531905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00" b="1">
                <a:solidFill>
                  <a:srgbClr val="A88BEF"/>
                </a:solidFill>
              </a:defRPr>
            </a:pPr>
            <a:r>
              <a:rPr sz="3600" b="1">
                <a:solidFill>
                  <a:srgbClr val="A88BEF"/>
                </a:solidFill>
              </a:rPr>
              <a:t>LOC1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2E3BF-D0F7-4D65-8791-8580FE7F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81425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F7F1E7"/>
                </a:solidFill>
              </a:defRPr>
            </a:pPr>
            <a:r>
              <a:rPr sz="2100" b="0">
                <a:solidFill>
                  <a:srgbClr val="F7F1E7"/>
                </a:solidFill>
              </a:rPr>
              <a:t>66符文、四向與抽取解讀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56AE4-A840-4D8E-8A31-131C2720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8630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A9DD8-8642-4EB0-ADF9-ADD281CA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8997B8"/>
                </a:solidFill>
              </a:defRPr>
            </a:pPr>
            <a:r>
              <a:rPr sz="1800" b="1">
                <a:solidFill>
                  <a:srgbClr val="8997B8"/>
                </a:solidFill>
              </a:rPr>
              <a:t>互動與創作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85321-1657-4572-9AF4-DAC094E5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00" b="1">
                <a:solidFill>
                  <a:srgbClr val="D7B36A"/>
                </a:solidFill>
              </a:defRPr>
            </a:pPr>
            <a:r>
              <a:rPr sz="3600" b="1">
                <a:solidFill>
                  <a:srgbClr val="D7B36A"/>
                </a:solidFill>
              </a:rPr>
              <a:t>LOC2–6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634CF-D9DC-4EB3-83C5-F840AD56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05475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F7F1E7"/>
                </a:solidFill>
              </a:defRPr>
            </a:pPr>
            <a:r>
              <a:rPr sz="2100" b="0">
                <a:solidFill>
                  <a:srgbClr val="F7F1E7"/>
                </a:solidFill>
              </a:rPr>
              <a:t>遊戲、音樂、文字、視覺與治理語句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3FAE4-D58C-48C3-99CE-F2BA91BD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61035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67A0D-0500-46C4-A94D-6BE810AF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818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8997B8"/>
                </a:solidFill>
              </a:defRPr>
            </a:pPr>
            <a:r>
              <a:rPr sz="1800" b="1">
                <a:solidFill>
                  <a:srgbClr val="8997B8"/>
                </a:solidFill>
              </a:rPr>
              <a:t>關係工程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724915-859E-411E-9D13-208A9107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390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00" b="1">
                <a:solidFill>
                  <a:srgbClr val="91B9A2"/>
                </a:solidFill>
              </a:defRPr>
            </a:pPr>
            <a:r>
              <a:rPr sz="3600" b="1">
                <a:solidFill>
                  <a:srgbClr val="91B9A2"/>
                </a:solidFill>
              </a:rPr>
              <a:t>LOC7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81CE3-C72A-459A-84B6-07C4D2D6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629525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F7F1E7"/>
                </a:solidFill>
              </a:defRPr>
            </a:pPr>
            <a:r>
              <a:rPr sz="2100" b="0">
                <a:solidFill>
                  <a:srgbClr val="F7F1E7"/>
                </a:solidFill>
              </a:rPr>
              <a:t>文字建築、語意檢索與Graph RAG方法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D01F9-F9EC-49B5-888F-F2B67B25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53440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3CAE62-648A-450A-9F54-E5DD3843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059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8997B8"/>
                </a:solidFill>
              </a:defRPr>
            </a:pPr>
            <a:r>
              <a:rPr sz="1800" b="1">
                <a:solidFill>
                  <a:srgbClr val="8997B8"/>
                </a:solidFill>
              </a:rPr>
              <a:t>趨勢統合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12238-692A-4CD8-9A5D-954E070E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631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600" b="1">
                <a:solidFill>
                  <a:srgbClr val="D98A72"/>
                </a:solidFill>
              </a:defRPr>
            </a:pPr>
            <a:r>
              <a:rPr sz="3600" b="1">
                <a:solidFill>
                  <a:srgbClr val="D98A72"/>
                </a:solidFill>
              </a:rPr>
              <a:t>LOC8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0BB22F-441A-4555-B950-795766B9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9553575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100" b="0">
                <a:solidFill>
                  <a:srgbClr val="F7F1E7"/>
                </a:solidFill>
              </a:defRPr>
            </a:pPr>
            <a:r>
              <a:rPr sz="2100" b="0">
                <a:solidFill>
                  <a:srgbClr val="F7F1E7"/>
                </a:solidFill>
              </a:rPr>
              <a:t>每日紀錄、一週趨勢與生活應用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44EEA5-C4FF-425A-8DA8-45BB8B18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C9D2E8"/>
                </a:solidFill>
              </a:defRPr>
            </a:pPr>
            <a:r>
              <a:rPr sz="2250" b="1">
                <a:solidFill>
                  <a:srgbClr val="C9D2E8"/>
                </a:solidFill>
              </a:rPr>
              <a:t>各部分可以獨立使用，也能透過共同語意骨架互相連接。</a:t>
            </a:r>
          </a:p>
        </p:txBody>
      </p:sp>
    </p:spTree>
    <p:extLst>
      <p:ext uri="{BB962C8B-B14F-4D97-AF65-F5344CB8AC3E}">
        <p14:creationId xmlns:p14="http://schemas.microsoft.com/office/powerpoint/2010/main" val="12496922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1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05E44-EB74-4506-9399-5959C186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52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A3E44-817A-48C2-8564-D456B209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D7B36A"/>
                </a:solidFill>
              </a:defRPr>
            </a:pPr>
            <a:r>
              <a:rPr sz="1575" b="1">
                <a:solidFill>
                  <a:srgbClr val="D7B36A"/>
                </a:solidFill>
              </a:rPr>
              <a:t>LOC · START HERE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409BA-2012-49C6-8330-882AD930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"/>
            <a:ext cx="1790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500" b="0">
                <a:solidFill>
                  <a:srgbClr val="8997B8"/>
                </a:solidFill>
              </a:defRPr>
            </a:pPr>
            <a:r>
              <a:rPr sz="1500" b="0">
                <a:solidFill>
                  <a:srgbClr val="8997B8"/>
                </a:solidFill>
              </a:rPr>
              <a:t>10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2D375-2FCA-4137-8C31-C4900FFD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B44D7-17DA-4CF2-B7A0-9C4BBE40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348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秘藝文域 · EsotericVerse 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97CF5-9A2E-4929-8173-578B34C9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1348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350" b="0">
                <a:solidFill>
                  <a:srgbClr val="8997B8"/>
                </a:solidFill>
              </a:defRPr>
            </a:pPr>
            <a:r>
              <a:rPr sz="1350" b="0">
                <a:solidFill>
                  <a:srgbClr val="8997B8"/>
                </a:solidFill>
              </a:rPr>
              <a:t>loc.lo3rwang.cc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F0637-5429-41DA-A5B8-84CBC386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1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7F1E7"/>
                </a:solidFill>
              </a:defRPr>
            </a:pPr>
            <a:r>
              <a:rPr sz="4050" b="1">
                <a:solidFill>
                  <a:srgbClr val="F7F1E7"/>
                </a:solidFill>
              </a:rPr>
              <a:t>選一個入口，今天就開始使用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B4C67-0F4C-484F-A409-3601A599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A88BEF"/>
                </a:solidFill>
              </a:defRPr>
            </a:pPr>
            <a:r>
              <a:rPr sz="2100" b="1">
                <a:solidFill>
                  <a:srgbClr val="A88BEF"/>
                </a:solidFill>
              </a:rPr>
              <a:t>線上抽取與符文查詢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FD43B-A385-4543-9369-EBFF84B8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150" b="1">
                <a:solidFill>
                  <a:srgbClr val="F7F1E7"/>
                </a:solidFill>
              </a:defRPr>
            </a:pPr>
            <a:r>
              <a:rPr sz="3150" b="1">
                <a:solidFill>
                  <a:srgbClr val="F7F1E7"/>
                </a:solidFill>
              </a:rPr>
              <a:t>loc.lo3rwang.cc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E0D39-E4FD-4E14-AB51-EEBCDA0D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307DD-9669-45F3-BBD6-6A96D70F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D7B36A"/>
                </a:solidFill>
              </a:defRPr>
            </a:pPr>
            <a:r>
              <a:rPr sz="2100" b="1">
                <a:solidFill>
                  <a:srgbClr val="D7B36A"/>
                </a:solidFill>
              </a:rPr>
              <a:t>專案說明、資料與列印檔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88B8E-C235-447B-94E0-C5272418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F7F1E7"/>
                </a:solidFill>
              </a:defRPr>
            </a:pPr>
            <a:r>
              <a:rPr sz="2400" b="1">
                <a:solidFill>
                  <a:srgbClr val="F7F1E7"/>
                </a:solidFill>
              </a:rPr>
              <a:t>github.com/EsotericVerse/moon-runes-pwa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2F5AB-D6D5-49A4-A010-0B16A60F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876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800" b="0">
                <a:solidFill>
                  <a:srgbClr val="C9D2E8"/>
                </a:solidFill>
              </a:defRPr>
            </a:pPr>
            <a:r>
              <a:rPr sz="1800" b="0">
                <a:solidFill>
                  <a:srgbClr val="C9D2E8"/>
                </a:solidFill>
              </a:rPr>
              <a:t>Repository內可取得 README、LunarRunesCardCut.pdf、LunaRune64.xlsx 與命運句語法圖鑑。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32B6A-435F-4F8A-B56D-4A8B7E04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29550"/>
            <a:ext cx="891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214E5-2FE4-41CE-AECD-D4ECE491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4201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91B9A2"/>
                </a:solidFill>
              </a:defRPr>
            </a:pPr>
            <a:r>
              <a:rPr sz="2250" b="1">
                <a:solidFill>
                  <a:srgbClr val="91B9A2"/>
                </a:solidFill>
              </a:rPr>
              <a:t>第一次使用建議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0B212-8DB3-4A02-B932-C4DDF430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0"/>
            <a:ext cx="857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2400" b="1">
                <a:solidFill>
                  <a:srgbClr val="F7F1E7"/>
                </a:solidFill>
              </a:defRPr>
            </a:pPr>
            <a:r>
              <a:rPr sz="2400" b="1">
                <a:solidFill>
                  <a:srgbClr val="F7F1E7"/>
                </a:solidFill>
              </a:rPr>
              <a:t>① 選一個真實問題　② 抽一張符文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2400" b="1">
                <a:solidFill>
                  <a:srgbClr val="F7F1E7"/>
                </a:solidFill>
              </a:defRPr>
            </a:pPr>
            <a:r>
              <a:rPr sz="2400" b="1">
                <a:solidFill>
                  <a:srgbClr val="F7F1E7"/>
                </a:solidFill>
              </a:rPr>
              <a:t>③ 寫下自己的理解　④ 連續記錄一週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E51F5-1B0E-481A-957C-2B45C875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966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88BEF"/>
                </a:solidFill>
              </a:defRPr>
            </a:pPr>
            <a:r>
              <a:rPr sz="1800" b="0">
                <a:solidFill>
                  <a:srgbClr val="A88BEF"/>
                </a:solidFill>
              </a:rPr>
              <a:t>@lo3rwang　｜　Lucas Oscar Wang 政德</a:t>
            </a:r>
          </a:p>
        </p:txBody>
      </p:sp>
    </p:spTree>
    <p:extLst>
      <p:ext uri="{BB962C8B-B14F-4D97-AF65-F5344CB8AC3E}">
        <p14:creationId xmlns:p14="http://schemas.microsoft.com/office/powerpoint/2010/main" val="1000651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2026-09-02T17:45:53.2810000Z</dcterms:created>
  <dcterms:modified xsi:type="dcterms:W3CDTF">2026-09-02T17:45:53.2810000Z</dcterms:modified>
</coreProperties>
</file>